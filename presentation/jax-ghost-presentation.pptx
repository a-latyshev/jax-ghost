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Finite elements → distributed algebra</a:t>
            </a:r>
          </a:p>
          <a:p/>
          <a:p>
            <a:r>
              <a:t>Timing: 0:40.</a:t>
            </a:r>
          </a:p>
          <a:p/>
          <a:p>
            <a:r>
              <a:t>Finite elements split the domain into cells and express the approximate solution</a:t>
            </a:r>
          </a:p>
          <a:p>
            <a:r>
              <a:t>as a weighted sum of local basis functions. Those weights are the degrees of</a:t>
            </a:r>
          </a:p>
          <a:p>
            <a:r>
              <a:t>freedom. For the scalar continuous P1 example used next, each vertex has one</a:t>
            </a:r>
          </a:p>
          <a:p>
            <a:r>
              <a:t>DoF; that vertex picture does not apply to all finite elements. A variational</a:t>
            </a:r>
          </a:p>
          <a:p>
            <a:r>
              <a:t>form and assembly produce a sparse algebraic system because basis functions</a:t>
            </a:r>
          </a:p>
          <a:p>
            <a:r>
              <a:t>have local support. Boundary conditions and the specific PDE are omitted here.</a:t>
            </a:r>
          </a:p>
          <a:p/>
          <a:p>
            <a:r>
              <a:t>FEniCSx is the finite-element computing platform; DOLFINx is its computational</a:t>
            </a:r>
          </a:p>
          <a:p>
            <a:r>
              <a:t>core and problem-solving interface, handling meshes, function spaces and</a:t>
            </a:r>
          </a:p>
          <a:p>
            <a:r>
              <a:t>distributed assembly. We retain its ownership conventions when moving numerical</a:t>
            </a:r>
          </a:p>
          <a:p>
            <a:r>
              <a:t>operations into JAX. Transition: how are those DoFs distributed across ranks?</a:t>
            </a:r>
          </a:p>
          <a:p/>
          <a:p>
            <a:r>
              <a:t>Reference: https://docs.fenicsproject.org/dolfinx/main/python/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mesh, two MPI ranks</a:t>
            </a:r>
          </a:p>
          <a:p/>
          <a:p>
            <a:r>
              <a:t>Timing: 1:35.</a:t>
            </a:r>
          </a:p>
          <a:p/>
          <a:p>
            <a:r>
              <a:t>Read the left diagram as a 2D triangular mesh, with two cell columns assigned</a:t>
            </a:r>
          </a:p>
          <a:p>
            <a:r>
              <a:t>to rank 0 and one to rank 1. The global vertex labels run from 0 to 11. The</a:t>
            </a:r>
          </a:p>
          <a:p>
            <a:r>
              <a:t>shared interface contains DoFs 2, 6 and 10. We deliberately assign 2 and 10 to</a:t>
            </a:r>
          </a:p>
          <a:p>
            <a:r>
              <a:t>rank 0 and 6 to rank 1 so that forward copies travel in both directions. This</a:t>
            </a:r>
          </a:p>
          <a:p>
            <a:r>
              <a:t>is a valid illustrative ownership convention, not a captured DOLFINx partition.</a:t>
            </a:r>
          </a:p>
          <a:p>
            <a:r>
              <a:t>Real ownership and local ordering must come from the DoF IndexMap.</a:t>
            </a:r>
          </a:p>
          <a:p/>
          <a:p>
            <a:r>
              <a:t>The separated diagrams show cells owned by each rank, without ghost cells.</a:t>
            </a:r>
          </a:p>
          <a:p>
            <a:r>
              <a:t>A filled node is authoritative on this rank; an outlined node is a cached</a:t>
            </a:r>
          </a:p>
          <a:p>
            <a:r>
              <a:t>coefficient owned remotely. Rank 0 stores eight owned entries and ghost 6;</a:t>
            </a:r>
          </a:p>
          <a:p>
            <a:r>
              <a:t>rank 1 stores four owned entries and ghosts 2 and 10. Local storage is flat,</a:t>
            </a:r>
          </a:p>
          <a:p>
            <a:r>
              <a:t>even though the geometric mesh is two-dimensional. Outlines retain the owner's</a:t>
            </a:r>
          </a:p>
          <a:p>
            <a:r>
              <a:t>color, so the arrows can be followed directly from source to destination.</a:t>
            </a:r>
          </a:p>
          <a:p/>
          <a:p>
            <a:r>
              <a:t>A forward INSERT copies current owner values into ghost slots, preserving</a:t>
            </a:r>
          </a:p>
          <a:p>
            <a:r>
              <a:t>owned entries. Mesh ghost cells are distinct: additional cells stored locally</a:t>
            </a:r>
          </a:p>
          <a:p>
            <a:r>
              <a:t>for algorithms requiring neighboring cell geometry/topology. DoF ghosts can be</a:t>
            </a:r>
          </a:p>
          <a:p>
            <a:r>
              <a:t>needed by owned cells even when extra ghost cells are not shown. Reverse ADD</a:t>
            </a:r>
          </a:p>
          <a:p>
            <a:r>
              <a:t>is a different operation that accumulates contributions into owners.</a:t>
            </a:r>
          </a:p>
          <a:p/>
          <a:p>
            <a:r>
              <a:t>Repository: ../src/jaxghost/_metadata.py; ../src/jaxghost/jaxghost.py.</a:t>
            </a:r>
          </a:p>
          <a:p>
            <a:r>
              <a:t>Reference: https://docs.fenicsproject.org/dolfinx/main/python/demos.html#mesh-partitioning-and-parallel-communication-analysis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preserve this on GPUs with JAX?</a:t>
            </a:r>
          </a:p>
          <a:p/>
          <a:p>
            <a:r>
              <a:t>Timing: 0:45.</a:t>
            </a:r>
          </a:p>
          <a:p/>
          <a:p>
            <a:r>
              <a:t>These are exactly the local arrays from the previous slide, now held on GPUs.</a:t>
            </a:r>
          </a:p>
          <a:p>
            <a:r>
              <a:t>We keep one MPI process per local JAX device, matching the current library's</a:t>
            </a:r>
          </a:p>
          <a:p>
            <a:r>
              <a:t>supported layout. Rank 0 has nine local scalar entries and rank 1 has six.</a:t>
            </a:r>
          </a:p>
          <a:p>
            <a:r>
              <a:t>Moving the vector to a GPU does not establish any ghost synchronization.</a:t>
            </a:r>
          </a:p>
          <a:p/>
          <a:p>
            <a:r>
              <a:t>We need the same owner-to-ghost copy operation as in DOLFINx, callable within</a:t>
            </a:r>
          </a:p>
          <a:p>
            <a:r>
              <a:t>a JIT-compiled numerical computation. DOLFINx supplies the layout at setup;</a:t>
            </a:r>
          </a:p>
          <a:p>
            <a:r>
              <a:t>the repeated numerical values are JAX arrays. The plan must survive tracing</a:t>
            </a:r>
          </a:p>
          <a:p>
            <a:r>
              <a:t>and account for irregular neighbor lists and unequal sizes without changing</a:t>
            </a:r>
          </a:p>
          <a:p>
            <a:r>
              <a:t>the semantic meaning of owned and ghost entries. We will first illustrate</a:t>
            </a:r>
          </a:p>
          <a:p>
            <a:r>
              <a:t>why matvec needs this exchange, then compare the two implemented mechanisms.</a:t>
            </a:r>
          </a:p>
          <a:p/>
          <a:p>
            <a:r>
              <a:t>Repository: ../README.md (Current scope); ../src/jaxghost/sharded.py.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local matrix row needs a remote vector value</a:t>
            </a:r>
          </a:p>
          <a:p/>
          <a:p>
            <a:r>
              <a:t>Timing: 1:45.</a:t>
            </a:r>
          </a:p>
          <a:p/>
          <a:p>
            <a:r>
              <a:t>This is a deliberately smaller algebraic toy, not the stiffness matrix of the</a:t>
            </a:r>
          </a:p>
          <a:p>
            <a:r>
              <a:t>twelve-vertex mesh on the preceding slides. Use zero-based indices throughout.</a:t>
            </a:r>
          </a:p>
          <a:p>
            <a:r>
              <a:t>Rank 0 owns rows and vector entries 0 and 1; rank 1 owns 2 and 3. The matrix has</a:t>
            </a:r>
          </a:p>
          <a:p>
            <a:r>
              <a:t>2 on its diagonal and −1 on its first sub- and super-diagonals. With x equal to</a:t>
            </a:r>
          </a:p>
          <a:p>
            <a:r>
              <a:t>[1, 2, 4, 8], the full result is [0, −1, −2, 12].</a:t>
            </a:r>
          </a:p>
          <a:p/>
          <a:p>
            <a:r>
              <a:t>Focus on row 1: its coefficient in column 2 multiplies x₂, which lives on rank</a:t>
            </a:r>
          </a:p>
          <a:p>
            <a:r>
              <a:t>1. Rank 0 therefore receives a copy of 4 and stores [1, 2 | 4]. Row 2 has the</a:t>
            </a:r>
          </a:p>
          <a:p>
            <a:r>
              <a:t>symmetric need for x₁, so rank 1 stores [4, 8 | 2]. The outlined vector boxes</a:t>
            </a:r>
          </a:p>
          <a:p>
            <a:r>
              <a:t>retain the remote owner's color. The matrix's nonlocal-column coefficients</a:t>
            </a:r>
          </a:p>
          <a:p>
            <a:r>
              <a:t>are already stored with their owned row; it is x that needs refreshing.</a:t>
            </a:r>
          </a:p>
          <a:p>
            <a:r>
              <a:t>An implementation remaps global columns to positions in its local extended x.</a:t>
            </a:r>
          </a:p>
          <a:p/>
          <a:p>
            <a:r>
              <a:t>After the forward update, each rank computes its owned output rows. Setting</a:t>
            </a:r>
          </a:p>
          <a:p>
            <a:r>
              <a:t>initial y to zero makes our owned y += Ax API look like y = Ax in this example.</a:t>
            </a:r>
          </a:p>
          <a:p>
            <a:r>
              <a:t>The returned array preserves output ghost entries; an additional forward</a:t>
            </a:r>
          </a:p>
          <a:p>
            <a:r>
              <a:t>exchange is needed if a later operation requires updated y ghosts. The input</a:t>
            </a:r>
          </a:p>
          <a:p>
            <a:r>
              <a:t>x is not mutated even though an internally refreshed version feeds matvec.</a:t>
            </a:r>
          </a:p>
          <a:p>
            <a:r>
              <a:t>Assembly's reverse accumulation is distinct from the forward exchange shown.</a:t>
            </a:r>
          </a:p>
          <a:p/>
          <a:p>
            <a:r>
              <a:t>Repository: ../src/jaxghost/matrix.py; ../src/jaxghost/sharded_matrix.py.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mpi4jax: pack → sendrecv → unpack</a:t>
            </a:r>
          </a:p>
          <a:p/>
          <a:p>
            <a:r>
              <a:t>Timing: 1:25.</a:t>
            </a:r>
          </a:p>
          <a:p/>
          <a:p>
            <a:r>
              <a:t>JAXGhost builds an immutable communication layout from the DOLFINx IndexMap.</a:t>
            </a:r>
          </a:p>
          <a:p>
            <a:r>
              <a:t>The one-time metadata phase uses mpi4py. At runtime, JAX gathers selected owned</a:t>
            </a:r>
          </a:p>
          <a:p>
            <a:r>
              <a:t>entries into a packed buffer, loops over its sorted peers, and invokes</a:t>
            </a:r>
          </a:p>
          <a:p>
            <a:r>
              <a:t>mpi4jax.sendrecv with the matching source, destination and buffer sizes. The</a:t>
            </a:r>
          </a:p>
          <a:p>
            <a:r>
              <a:t>received parts are concatenated and assigned to precomputed ghost positions.</a:t>
            </a:r>
          </a:p>
          <a:p>
            <a:r>
              <a:t>The picture follows rank 0 in the algebraic toy: send 2, receive 4.</a:t>
            </a:r>
          </a:p>
          <a:p/>
          <a:p>
            <a:r>
              <a:t>mpi4jax lowers MPI operations into the compiled JAX computation through its</a:t>
            </a:r>
          </a:p>
          <a:p>
            <a:r>
              <a:t>native bridge; the Python call describes an operation to execute at runtime.</a:t>
            </a:r>
          </a:p>
          <a:p>
            <a:r>
              <a:t>Our pinned 0.9.1.post1 API returns the received array and uses ordered effects,</a:t>
            </a:r>
          </a:p>
          <a:p>
            <a:r>
              <a:t>which also retain send-only exchanges. All ranks must participate in compatible</a:t>
            </a:r>
          </a:p>
          <a:p>
            <a:r>
              <a:t>order with matching types and counts. Runtime communication uses a duplicated</a:t>
            </a:r>
          </a:p>
          <a:p>
            <a:r>
              <a:t>communicator separate from host metadata traffic.</a:t>
            </a:r>
          </a:p>
          <a:p/>
          <a:p>
            <a:r>
              <a:t>With host staging, mpi4jax copies between GPU and CPU buffers around MPI.</a:t>
            </a:r>
          </a:p>
          <a:p>
            <a:r>
              <a:t>CUDA-aware mode instead passes device pointers to a compatible MPI stack.</a:t>
            </a:r>
          </a:p>
          <a:p>
            <a:r>
              <a:t>That does not prove the MPI transport avoids host copies. In the recorded</a:t>
            </a:r>
          </a:p>
          <a:p>
            <a:r>
              <a:t>IRIS investigation, both a working TCP route and a later working UCX small-</a:t>
            </a:r>
          </a:p>
          <a:p>
            <a:r>
              <a:t>message route staged payloads inside MPI/UCX. That is a configuration-specific</a:t>
            </a:r>
          </a:p>
          <a:p>
            <a:r>
              <a:t>observation, not a universal claim about UCX. We make no GPUDirect assertion.</a:t>
            </a:r>
          </a:p>
          <a:p/>
          <a:p>
            <a:r>
              <a:t>Repository: ../src/jaxghost/jaxghost.py; ../HPC-GPU/transport-investigation.md.</a:t>
            </a:r>
          </a:p>
          <a:p>
            <a:r>
              <a:t>References:</a:t>
            </a:r>
          </a:p>
          <a:p>
            <a:r>
              <a:t>https://mpi4jax.readthedocs.io/en/latest/installation.html</a:t>
            </a:r>
          </a:p>
          <a:p>
            <a:r>
              <a:t>https://mpi4jax.readthedocs.io/en/latest/sharp-bits.html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challenge: make the whole HPC stack agree</a:t>
            </a:r>
          </a:p>
          <a:p/>
          <a:p>
            <a:r>
              <a:t>Timing: 1:25.</a:t>
            </a:r>
          </a:p>
          <a:p/>
          <a:p>
            <a:r>
              <a:t>The connecting lines indicate compatibility or linkage requirements, not the</a:t>
            </a:r>
          </a:p>
          <a:p>
            <a:r>
              <a:t>order of data movement. DOLFINx and PETSc share a native MPI stack with mpi4py.</a:t>
            </a:r>
          </a:p>
          <a:p>
            <a:r>
              <a:t>mpi4jax must use the intended MPI installation and a supported JAX/jaxlib</a:t>
            </a:r>
          </a:p>
          <a:p>
            <a:r>
              <a:t>combination. GPU execution adds CUDA discovery, the installed GPU backend and</a:t>
            </a:r>
          </a:p>
          <a:p>
            <a:r>
              <a:t>driver compatibility. MPI then selects a transport such as UCX at runtime.</a:t>
            </a:r>
          </a:p>
          <a:p>
            <a:r>
              <a:t>On HPC, module order, Spack prefixes, virtual environments and launcher settings</a:t>
            </a:r>
          </a:p>
          <a:p>
            <a:r>
              <a:t>all affect the libraries actually loaded.</a:t>
            </a:r>
          </a:p>
          <a:p/>
          <a:p>
            <a:r>
              <a:t>Two concrete issues from our work make this less abstract. First, mpi4jax</a:t>
            </a:r>
          </a:p>
          <a:p>
            <a:r>
              <a:t>0.9.1.post1 searched for NVIDIA wheels beside mpi4py. mpi4py was supplied by</a:t>
            </a:r>
          </a:p>
          <a:p>
            <a:r>
              <a:t>Spack while CUDA wheels were in the virtual environment; the build missed CUDA</a:t>
            </a:r>
          </a:p>
          <a:p>
            <a:r>
              <a:t>and needed a version-specific discovery patch. This is a historical project</a:t>
            </a:r>
          </a:p>
          <a:p>
            <a:r>
              <a:t>example, not a claim that every current release has that bug.</a:t>
            </a:r>
          </a:p>
          <a:p/>
          <a:p>
            <a:r>
              <a:t>Second, the selected UCX 1.15.0 installation exposed no CUDA memory domain or</a:t>
            </a:r>
          </a:p>
          <a:p>
            <a:r>
              <a:t>CUDA modules on the GPU node. The observed send path tried a CPU access to a</a:t>
            </a:r>
          </a:p>
          <a:p>
            <a:r>
              <a:t>device buffer and crashed. A working TCP configuration passed numerical checks</a:t>
            </a:r>
          </a:p>
          <a:p>
            <a:r>
              <a:t>but staged internally. A subsequently tested CUDA-enabled UCX configuration</a:t>
            </a:r>
          </a:p>
          <a:p>
            <a:r>
              <a:t>also passed; the traced small messages still used host staging. Thus the lesson</a:t>
            </a:r>
          </a:p>
          <a:p>
            <a:r>
              <a:t>is to verify the selected stack and real exchange, not just package imports</a:t>
            </a:r>
          </a:p>
          <a:p>
            <a:r>
              <a:t>or the top-level Open MPI CUDA-support flag. Neither issue required changing</a:t>
            </a:r>
          </a:p>
          <a:p>
            <a:r>
              <a:t>the owner/ghost semantics.</a:t>
            </a:r>
          </a:p>
          <a:p/>
          <a:p>
            <a:r>
              <a:t>Repository: ../HPC-GPU/notes.md (CUDA-discovery fix);</a:t>
            </a:r>
          </a:p>
          <a:p>
            <a:r>
              <a:t>../HPC-GPU/transport-investigation.md (initial and subsequent configurations).</a:t>
            </a:r>
          </a:p>
          <a:p>
            <a:r>
              <a:t>Reference: https://mpi4jax.readthedocs.io/en/latest/installation.html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 ghost exchange with JAX sharding</a:t>
            </a:r>
          </a:p>
          <a:p/>
          <a:p>
            <a:r>
              <a:t>Timing: 2:25. Elapsed speaking time through this slide: 10:00.</a:t>
            </a:r>
          </a:p>
          <a:p/>
          <a:p>
            <a:r>
              <a:t>Reuse the twelve-vertex mesh's exact local order. Rank 0 has eight owned values</a:t>
            </a:r>
          </a:p>
          <a:p>
            <a:r>
              <a:t>and one ghost: nine entries. Rank 1 has four owned values and two ghosts: six</a:t>
            </a:r>
          </a:p>
          <a:p>
            <a:r>
              <a:t>entries, padded to nine. The conceptual global array has shape [2, 9], with its</a:t>
            </a:r>
          </a:p>
          <a:p>
            <a:r>
              <a:t>first axis sharded across the two devices. It is not a dense representation of</a:t>
            </a:r>
          </a:p>
          <a:p>
            <a:r>
              <a:t>the original global FEM vector: the rows contain local storage including ghost</a:t>
            </a:r>
          </a:p>
          <a:p>
            <a:r>
              <a:t>duplicates and padding. Each process holds its own addressable row, not both.</a:t>
            </a:r>
          </a:p>
          <a:p/>
          <a:p>
            <a:r>
              <a:t>The setup phase uses DOLFINx IndexMap ownership and mpi4py metadata exchanges.</a:t>
            </a:r>
          </a:p>
          <a:p>
            <a:r>
              <a:t>It computes globally consistent padded lengths and fixed-width peer packets,</a:t>
            </a:r>
          </a:p>
          <a:p>
            <a:r>
              <a:t>then places send indices, receive positions and validity masks into sharded</a:t>
            </a:r>
          </a:p>
          <a:p>
            <a:r>
              <a:t>JAX arrays. Initialize distributed JAX before querying devices and align mesh</a:t>
            </a:r>
          </a:p>
          <a:p>
            <a:r>
              <a:t>positions with MPI ranks. DOLFINx is used at preparation, and is not needed for</a:t>
            </a:r>
          </a:p>
          <a:p>
            <a:r>
              <a:t>replay of already exported fixtures; mpi4py remains used for setup/bootstrap.</a:t>
            </a:r>
          </a:p>
          <a:p/>
          <a:p>
            <a:r>
              <a:t>At runtime, shard_map runs the same device body on each shard, with rank-specific</a:t>
            </a:r>
          </a:p>
          <a:p>
            <a:r>
              <a:t>tables as operands. Gather the required owner values and mask unused entries.</a:t>
            </a:r>
          </a:p>
          <a:p>
            <a:r>
              <a:t>The native lax.all_to_all collective routes fixed-width packets by destination.</a:t>
            </a:r>
          </a:p>
          <a:p>
            <a:r>
              <a:t>Rank 0 sends u₂ and u₁₀; rank 1 sends u₆ plus one padded item. Self and unused</a:t>
            </a:r>
          </a:p>
          <a:p>
            <a:r>
              <a:t>peer slots also exist in the all-to-all layout. Receive-position tables route</a:t>
            </a:r>
          </a:p>
          <a:p>
            <a:r>
              <a:t>valid data into the original ghost slots. Invalid positions use an out-of-bounds</a:t>
            </a:r>
          </a:p>
          <a:p>
            <a:r>
              <a:t>sentinel with scatter mode='drop'. Owned values and array padding are preserved.</a:t>
            </a:r>
          </a:p>
          <a:p/>
          <a:p>
            <a:r>
              <a:t>ShardedJAXMatrixCSR.mult then computes owned y += Ax using local scalar CSR</a:t>
            </a:r>
          </a:p>
          <a:p>
            <a:r>
              <a:t>storage. It preserves the caller's arrays and output ghosts, and does not</a:t>
            </a:r>
          </a:p>
          <a:p>
            <a:r>
              <a:t>overlap communication with multiplication. There are two distinct paddings:</a:t>
            </a:r>
          </a:p>
          <a:p>
            <a:r>
              <a:t>the vector padding drawn in gray, and fixed-width peer packet padding. This</a:t>
            </a:r>
          </a:p>
          <a:p>
            <a:r>
              <a:t>implementation uses all_to_all, not ragged_all_to_all or an automatic halo</a:t>
            </a:r>
          </a:p>
          <a:p>
            <a:r>
              <a:t>inference mechanism. The padded representation and all-rank collective cost</a:t>
            </a:r>
          </a:p>
          <a:p>
            <a:r>
              <a:t>are the tradeoff for fixed shapes and native JAX communication.</a:t>
            </a:r>
          </a:p>
          <a:p/>
          <a:p>
            <a:r>
              <a:t>The repeated numerical exchange no longer uses the mpi4jax bridge or a runtime</a:t>
            </a:r>
          </a:p>
          <a:p>
            <a:r>
              <a:t>MPI communicator in our operator. This does not remove all MPI dependencies</a:t>
            </a:r>
          </a:p>
          <a:p>
            <a:r>
              <a:t>from setup or establish a physical GPU transport. Forward INSERT and scalar</a:t>
            </a:r>
          </a:p>
          <a:p>
            <a:r>
              <a:t>CSR matvec are implemented; reverse ADD is provided by the MPI backend but not</a:t>
            </a:r>
          </a:p>
          <a:p>
            <a:r>
              <a:t>this sharded backend. Differentiation is outside the supported interface.</a:t>
            </a:r>
          </a:p>
          <a:p/>
          <a:p>
            <a:r>
              <a:t>Repository: ../src/jaxghost/sharded.py; ../src/jaxghost/sharded_matrix.py;</a:t>
            </a:r>
          </a:p>
          <a:p>
            <a:r>
              <a:t>../datasets/test-sharded-gpu/results/matrix-timing-20260909T052640Z/REPORT.md.</a:t>
            </a:r>
          </a:p>
          <a:p>
            <a:r>
              <a:t>Reference: https://docs.jax.dev/en/latest/notebooks/shard_map.html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Newer JAX APIs: optimization opportunities</a:t>
            </a:r>
          </a:p>
          <a:p/>
          <a:p>
            <a:r>
              <a:t>Timing: 1:30. Total planned speaking time with the extra slide: 11:30.</a:t>
            </a:r>
          </a:p>
          <a:p/>
          <a:p>
            <a:r>
              <a:t>This is a roadmap, not a report of optimizations already implemented. These</a:t>
            </a:r>
          </a:p>
          <a:p>
            <a:r>
              <a:t>are capabilities in current JAX documentation; they were not all introduced</a:t>
            </a:r>
          </a:p>
          <a:p>
            <a:r>
              <a:t>in the same release. The supplied audit reports small CPU probes on JAX 0.10.2,</a:t>
            </a:r>
          </a:p>
          <a:p>
            <a:r>
              <a:t>not complete GPU or transformation validation. We did not rerun those probes</a:t>
            </a:r>
          </a:p>
          <a:p>
            <a:r>
              <a:t>or change the numerical backend while preparing this slide. Check the actual</a:t>
            </a:r>
          </a:p>
          <a:p>
            <a:r>
              <a:t>JAX/jaxlib and GPU stack before each experiment.</a:t>
            </a:r>
          </a:p>
          <a:p/>
          <a:p>
            <a:r>
              <a:t>LESS PADDING. Our existing all-to-all allocates one maximum-width numerical</a:t>
            </a:r>
          </a:p>
          <a:p>
            <a:r>
              <a:t>packet per peer. The mini-diagram illustrates the same three useful values</a:t>
            </a:r>
          </a:p>
          <a:p>
            <a:r>
              <a:t>inside eight packet slots versus a packed representation; it is not a measured</a:t>
            </a:r>
          </a:p>
          <a:p>
            <a:r>
              <a:t>size reduction for the earlier two-rank mesh. ragged_all_to_all exchanges slices</a:t>
            </a:r>
          </a:p>
          <a:p>
            <a:r>
              <a:t>using counts and offsets, matching the DOLFINx-derived plan. Zero counts can</a:t>
            </a:r>
          </a:p>
          <a:p>
            <a:r>
              <a:t>represent non-neighbors. With our uniform shards, capacities remain fixed:</a:t>
            </a:r>
          </a:p>
          <a:p>
            <a:r>
              <a:t>use the maximum total outgoing count rather than rank count times the largest</a:t>
            </a:r>
          </a:p>
          <a:p>
            <a:r>
              <a:t>peer message. Metadata and vector/CSR padding remain. output_offsets specifies</a:t>
            </a:r>
          </a:p>
          <a:p>
            <a:r>
              <a:t>where each outgoing slice lands on its receiver, so receiver offsets must be</a:t>
            </a:r>
          </a:p>
          <a:p>
            <a:r>
              <a:t>exchanged during setup before unpacking into original ghost order. Validate</a:t>
            </a:r>
          </a:p>
          <a:p>
            <a:r>
              <a:t>GPU lowering and compare latency, not just payload size; the supplied audit's</a:t>
            </a:r>
          </a:p>
          <a:p>
            <a:r>
              <a:t>CPU probe could not compile this primitive.</a:t>
            </a:r>
          </a:p>
          <a:p/>
          <a:p>
            <a:r>
              <a:t>REUSE STORAGE. Donation is the smallest API experiment: permit reuse of the</a:t>
            </a:r>
          </a:p>
          <a:p>
            <a:r>
              <a:t>forward input x or matvec accumulator y when the caller relinquishes it. The</a:t>
            </a:r>
          </a:p>
          <a:p>
            <a:r>
              <a:t>donated input must not be reused afterward; memory reuse is an opportunity</a:t>
            </a:r>
          </a:p>
          <a:p>
            <a:r>
              <a:t>for the compiler, not a promised speedup. Keep the existing preserving API as</a:t>
            </a:r>
          </a:p>
          <a:p>
            <a:r>
              <a:t>the baseline. Mutable Refs offer a separate API with indexed writes to ghost</a:t>
            </a:r>
          </a:p>
          <a:p>
            <a:r>
              <a:t>or owned-output slots. Pass Refs explicitly into shard_map, rather than closing</a:t>
            </a:r>
          </a:p>
          <a:p>
            <a:r>
              <a:t>over them, and perform the indexed updates directly. Wrapping the existing</a:t>
            </a:r>
          </a:p>
          <a:p>
            <a:r>
              <a:t>full-vector functional update in a Ref will not automatically remove its</a:t>
            </a:r>
          </a:p>
          <a:p>
            <a:r>
              <a:t>temporaries. Current Ref documentation notes slower Python dispatch to impure</a:t>
            </a:r>
          </a:p>
          <a:p>
            <a:r>
              <a:t>JIT functions taking Ref inputs; benchmark against donated functional calls.</a:t>
            </a:r>
          </a:p>
          <a:p/>
          <a:p>
            <a:r>
              <a:t>OVERLAP. Split the local operator into owned-column and ghost-column parts.</a:t>
            </a:r>
          </a:p>
          <a:p>
            <a:r>
              <a:t>The timeline is a target: initiate the exchange, compute the owned-column part,</a:t>
            </a:r>
          </a:p>
          <a:p>
            <a:r>
              <a:t>then use received values for the ghost-column part. psend/precv expose separate</a:t>
            </a:r>
          </a:p>
          <a:p>
            <a:r>
              <a:t>send/receive operations; their GPU semantics map to NCCL communication. They</a:t>
            </a:r>
          </a:p>
          <a:p>
            <a:r>
              <a:t>are not interchangeable with MPI nonblocking begin/end. Matching permutations,</a:t>
            </a:r>
          </a:p>
          <a:p>
            <a:r>
              <a:t>fixed operand shapes, ordering and progress need testing. The supplied audit</a:t>
            </a:r>
          </a:p>
          <a:p>
            <a:r>
              <a:t>found no differentiation rule for psend; do not infer AD support from JIT</a:t>
            </a:r>
          </a:p>
          <a:p>
            <a:r>
              <a:t>support. Also compare ordinary collectives with independent computation and</a:t>
            </a:r>
          </a:p>
          <a:p>
            <a:r>
              <a:t>XLA latency-hiding / profile-guided scheduling. A GPU trace must show overlap.</a:t>
            </a:r>
          </a:p>
          <a:p/>
          <a:p>
            <a:r>
              <a:t>FOLLOW-UP. Profile local CSR separately: the current JAX sparse module is</a:t>
            </a:r>
          </a:p>
          <a:p>
            <a:r>
              <a:t>experimental and does not promise performance-critical suitability. Consider</a:t>
            </a:r>
          </a:p>
          <a:p>
            <a:r>
              <a:t>BCSR for batched vectors or gather-plus-segment-sum with cached row indices,</a:t>
            </a:r>
          </a:p>
          <a:p>
            <a:r>
              <a:t>keeping existing CSR as the baseline. Pallas/Mosaic GPU offers later kernel-</a:t>
            </a:r>
          </a:p>
          <a:p>
            <a:r>
              <a:t>level communication and computation integration. Its dense collective matmul</a:t>
            </a:r>
          </a:p>
          <a:p>
            <a:r>
              <a:t>example does not establish performance or hardware suitability for our</a:t>
            </a:r>
          </a:p>
          <a:p>
            <a:r>
              <a:t>irregular float64 CSR workload, including the GPUs used in this project.</a:t>
            </a:r>
          </a:p>
          <a:p/>
          <a:p>
            <a:r>
              <a:t>Suggested order: global no-communication fast path and donation; persistent</a:t>
            </a:r>
          </a:p>
          <a:p>
            <a:r>
              <a:t>Refs; GPU ragged exchange; profile local kernels; test overlap; specialized</a:t>
            </a:r>
          </a:p>
          <a:p>
            <a:r>
              <a:t>kernels only if warranted. The no-communication decision must be global:</a:t>
            </a:r>
          </a:p>
          <a:p>
            <a:r>
              <a:t>a rank with no local ghosts may still need to send to another rank. Retain the</a:t>
            </a:r>
          </a:p>
          <a:p>
            <a:r>
              <a:t>DOLFINx ownership and ghost ordering, and check correctness, memory and total</a:t>
            </a:r>
          </a:p>
          <a:p>
            <a:r>
              <a:t>matvec time for each candidate. Backend execution, JIT, batching and AD are</a:t>
            </a:r>
          </a:p>
          <a:p>
            <a:r>
              <a:t>separate properties to verify.</a:t>
            </a:r>
          </a:p>
          <a:p/>
          <a:p>
            <a:r>
              <a:t>References (official JAX documentation, checked for this slide):</a:t>
            </a:r>
          </a:p>
          <a:p>
            <a:r>
              <a:t>https://docs.jax.dev/en/latest/_autosummary/jax.lax.ragged_all_to_all.html</a:t>
            </a:r>
          </a:p>
          <a:p>
            <a:r>
              <a:t>https://docs.jax.dev/en/latest/buffer_donation.html</a:t>
            </a:r>
          </a:p>
          <a:p>
            <a:r>
              <a:t>https://docs.jax.dev/en/latest/array_refs.html</a:t>
            </a:r>
          </a:p>
          <a:p>
            <a:r>
              <a:t>https://docs.jax.dev/en/latest/_autosummary/jax.lax.psend.html</a:t>
            </a:r>
          </a:p>
          <a:p>
            <a:r>
              <a:t>https://docs.jax.dev/en/latest/_autosummary/jax.lax.precv.html</a:t>
            </a:r>
          </a:p>
          <a:p>
            <a:r>
              <a:t>https://docs.jax.dev/en/latest/gpu_performance_tips.html</a:t>
            </a:r>
          </a:p>
          <a:p>
            <a:r>
              <a:t>https://docs.jax.dev/en/latest/jax.experimental.sparse.html</a:t>
            </a:r>
          </a:p>
          <a:p>
            <a:r>
              <a:t>https://docs.jax.dev/en/latest/pallas/gpu/collective_matmul.html</a:t>
            </a:r>
          </a:p>
          <a:p/>
          <a:p>
            <a:r>
              <a:t>Repository baseline: ../src/jaxghost/sharded.py;</a:t>
            </a:r>
          </a:p>
          <a:p>
            <a:r>
              <a:t>../src/jaxghost/sharded_matrix.py. The user-supplied API audit informed the</a:t>
            </a:r>
          </a:p>
          <a:p>
            <a:r>
              <a:t>priorities; its probe outcomes are attributed above rather than revalidated.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0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THE STARTING POINT</a:t>
            </a:r>
          </a:p>
        </p:txBody>
      </p:sp>
      <p:sp>
        <p:nvSpPr>
          <p:cNvPr id="3" name="00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0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Finite elements → distributed algebra</a:t>
            </a:r>
          </a:p>
        </p:txBody>
      </p:sp>
      <p:sp>
        <p:nvSpPr>
          <p:cNvPr id="5" name="00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A brief reminder: local basis functions turn a PDE into a sparse system.</a:t>
            </a:r>
          </a:p>
        </p:txBody>
      </p:sp>
      <p:sp>
        <p:nvSpPr>
          <p:cNvPr id="6" name="00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0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0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0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0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0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0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0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0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0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0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17" name="00-016-rect"/>
          <p:cNvSpPr/>
          <p:nvPr/>
        </p:nvSpPr>
        <p:spPr>
          <a:xfrm>
            <a:off x="533400" y="175260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0-017-text"/>
          <p:cNvSpPr txBox="1"/>
          <p:nvPr/>
        </p:nvSpPr>
        <p:spPr>
          <a:xfrm>
            <a:off x="762000" y="1962150"/>
            <a:ext cx="29527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638"/>
                </a:solidFill>
                <a:latin typeface="DejaVu Sans"/>
              </a:defRPr>
            </a:pPr>
            <a:r>
              <a:t>01   Mesh the domain</a:t>
            </a:r>
          </a:p>
        </p:txBody>
      </p:sp>
      <p:sp>
        <p:nvSpPr>
          <p:cNvPr id="19" name="00-018-rect"/>
          <p:cNvSpPr/>
          <p:nvPr/>
        </p:nvSpPr>
        <p:spPr>
          <a:xfrm>
            <a:off x="4391025" y="175260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0-019-text"/>
          <p:cNvSpPr txBox="1"/>
          <p:nvPr/>
        </p:nvSpPr>
        <p:spPr>
          <a:xfrm>
            <a:off x="4619625" y="1962150"/>
            <a:ext cx="29527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638"/>
                </a:solidFill>
                <a:latin typeface="DejaVu Sans"/>
              </a:defRPr>
            </a:pPr>
            <a:r>
              <a:t>02   Approximate the field</a:t>
            </a:r>
          </a:p>
        </p:txBody>
      </p:sp>
      <p:sp>
        <p:nvSpPr>
          <p:cNvPr id="21" name="00-020-rect"/>
          <p:cNvSpPr/>
          <p:nvPr/>
        </p:nvSpPr>
        <p:spPr>
          <a:xfrm>
            <a:off x="8248650" y="175260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0-021-text"/>
          <p:cNvSpPr txBox="1"/>
          <p:nvPr/>
        </p:nvSpPr>
        <p:spPr>
          <a:xfrm>
            <a:off x="8477250" y="1962150"/>
            <a:ext cx="29527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638"/>
                </a:solidFill>
                <a:latin typeface="DejaVu Sans"/>
              </a:defRPr>
            </a:pPr>
            <a:r>
              <a:t>03   Assemble the system</a:t>
            </a:r>
          </a:p>
        </p:txBody>
      </p:sp>
      <p:sp>
        <p:nvSpPr>
          <p:cNvPr id="23" name="00-022-poly"/>
          <p:cNvSpPr/>
          <p:nvPr/>
        </p:nvSpPr>
        <p:spPr>
          <a:xfrm>
            <a:off x="9429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0-023-poly"/>
          <p:cNvSpPr/>
          <p:nvPr/>
        </p:nvSpPr>
        <p:spPr>
          <a:xfrm>
            <a:off x="9429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0-024-poly"/>
          <p:cNvSpPr/>
          <p:nvPr/>
        </p:nvSpPr>
        <p:spPr>
          <a:xfrm>
            <a:off x="15525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0-025-poly"/>
          <p:cNvSpPr/>
          <p:nvPr/>
        </p:nvSpPr>
        <p:spPr>
          <a:xfrm>
            <a:off x="15525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0-026-poly"/>
          <p:cNvSpPr/>
          <p:nvPr/>
        </p:nvSpPr>
        <p:spPr>
          <a:xfrm>
            <a:off x="21621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0-027-poly"/>
          <p:cNvSpPr/>
          <p:nvPr/>
        </p:nvSpPr>
        <p:spPr>
          <a:xfrm>
            <a:off x="21621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00-028-poly"/>
          <p:cNvSpPr/>
          <p:nvPr/>
        </p:nvSpPr>
        <p:spPr>
          <a:xfrm>
            <a:off x="27717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00-029-poly"/>
          <p:cNvSpPr/>
          <p:nvPr/>
        </p:nvSpPr>
        <p:spPr>
          <a:xfrm>
            <a:off x="2771775" y="262890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00-030-poly"/>
          <p:cNvSpPr/>
          <p:nvPr/>
        </p:nvSpPr>
        <p:spPr>
          <a:xfrm>
            <a:off x="9429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0-031-poly"/>
          <p:cNvSpPr/>
          <p:nvPr/>
        </p:nvSpPr>
        <p:spPr>
          <a:xfrm>
            <a:off x="9429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00-032-poly"/>
          <p:cNvSpPr/>
          <p:nvPr/>
        </p:nvSpPr>
        <p:spPr>
          <a:xfrm>
            <a:off x="15525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0-033-poly"/>
          <p:cNvSpPr/>
          <p:nvPr/>
        </p:nvSpPr>
        <p:spPr>
          <a:xfrm>
            <a:off x="15525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0-034-poly"/>
          <p:cNvSpPr/>
          <p:nvPr/>
        </p:nvSpPr>
        <p:spPr>
          <a:xfrm>
            <a:off x="21621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00-035-poly"/>
          <p:cNvSpPr/>
          <p:nvPr/>
        </p:nvSpPr>
        <p:spPr>
          <a:xfrm>
            <a:off x="21621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0-036-poly"/>
          <p:cNvSpPr/>
          <p:nvPr/>
        </p:nvSpPr>
        <p:spPr>
          <a:xfrm>
            <a:off x="27717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0-037-poly"/>
          <p:cNvSpPr/>
          <p:nvPr/>
        </p:nvSpPr>
        <p:spPr>
          <a:xfrm>
            <a:off x="27717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0-038-poly"/>
          <p:cNvSpPr/>
          <p:nvPr/>
        </p:nvSpPr>
        <p:spPr>
          <a:xfrm>
            <a:off x="9429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0-039-poly"/>
          <p:cNvSpPr/>
          <p:nvPr/>
        </p:nvSpPr>
        <p:spPr>
          <a:xfrm>
            <a:off x="9429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00-040-poly"/>
          <p:cNvSpPr/>
          <p:nvPr/>
        </p:nvSpPr>
        <p:spPr>
          <a:xfrm>
            <a:off x="15525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00-041-poly"/>
          <p:cNvSpPr/>
          <p:nvPr/>
        </p:nvSpPr>
        <p:spPr>
          <a:xfrm>
            <a:off x="15525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00-042-poly"/>
          <p:cNvSpPr/>
          <p:nvPr/>
        </p:nvSpPr>
        <p:spPr>
          <a:xfrm>
            <a:off x="21621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00-043-poly"/>
          <p:cNvSpPr/>
          <p:nvPr/>
        </p:nvSpPr>
        <p:spPr>
          <a:xfrm>
            <a:off x="21621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0-044-poly"/>
          <p:cNvSpPr/>
          <p:nvPr/>
        </p:nvSpPr>
        <p:spPr>
          <a:xfrm>
            <a:off x="27717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00-045-poly"/>
          <p:cNvSpPr/>
          <p:nvPr/>
        </p:nvSpPr>
        <p:spPr>
          <a:xfrm>
            <a:off x="2771775" y="3676650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0" y="55"/>
                </a:lnTo>
                <a:lnTo>
                  <a:pt x="64" y="55"/>
                </a:lnTo>
                <a:close/>
              </a:path>
            </a:pathLst>
          </a:custGeom>
          <a:solidFill>
            <a:srgbClr val="EFF5FF"/>
          </a:solidFill>
          <a:ln w="9525">
            <a:solidFill>
              <a:srgbClr val="95A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0-046-poly"/>
          <p:cNvSpPr/>
          <p:nvPr/>
        </p:nvSpPr>
        <p:spPr>
          <a:xfrm>
            <a:off x="1552575" y="3152775"/>
            <a:ext cx="609600" cy="523875"/>
          </a:xfrm>
          <a:custGeom>
            <a:avLst/>
            <a:gdLst/>
            <a:ahLst/>
            <a:cxnLst/>
            <a:rect l="l" t="t" r="r" b="b"/>
            <a:pathLst>
              <a:path w="64" h="55">
                <a:moveTo>
                  <a:pt x="0" y="0"/>
                </a:moveTo>
                <a:lnTo>
                  <a:pt x="64" y="0"/>
                </a:lnTo>
                <a:lnTo>
                  <a:pt x="64" y="55"/>
                </a:lnTo>
                <a:close/>
              </a:path>
            </a:pathLst>
          </a:cu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0-047-text"/>
          <p:cNvSpPr txBox="1"/>
          <p:nvPr/>
        </p:nvSpPr>
        <p:spPr>
          <a:xfrm>
            <a:off x="771525" y="4400550"/>
            <a:ext cx="29527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Small elements, local support</a:t>
            </a:r>
          </a:p>
        </p:txBody>
      </p:sp>
      <p:sp>
        <p:nvSpPr>
          <p:cNvPr id="49" name="00-048-text"/>
          <p:cNvSpPr txBox="1"/>
          <p:nvPr/>
        </p:nvSpPr>
        <p:spPr>
          <a:xfrm>
            <a:off x="4581525" y="2895600"/>
            <a:ext cx="3028950" cy="5210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925" b="0">
                <a:solidFill>
                  <a:srgbClr val="2463C9"/>
                </a:solidFill>
                <a:latin typeface="DejaVu Sans"/>
              </a:defRPr>
            </a:pPr>
            <a:r>
              <a:t>uₕ = ∑ᵢ uᵢ φᵢ</a:t>
            </a:r>
          </a:p>
        </p:txBody>
      </p:sp>
      <p:sp>
        <p:nvSpPr>
          <p:cNvPr id="50" name="00-049-text"/>
          <p:cNvSpPr txBox="1"/>
          <p:nvPr/>
        </p:nvSpPr>
        <p:spPr>
          <a:xfrm>
            <a:off x="4619625" y="3648075"/>
            <a:ext cx="2952750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46477"/>
                </a:solidFill>
                <a:latin typeface="DejaVu Sans"/>
              </a:defRPr>
            </a:pPr>
            <a:r>
              <a:t>DoFs uᵢ weight basis functions φᵢ.</a:t>
            </a:r>
          </a:p>
        </p:txBody>
      </p:sp>
      <p:sp>
        <p:nvSpPr>
          <p:cNvPr id="51" name="00-050-text"/>
          <p:cNvSpPr txBox="1"/>
          <p:nvPr/>
        </p:nvSpPr>
        <p:spPr>
          <a:xfrm>
            <a:off x="4619625" y="4400550"/>
            <a:ext cx="2952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For scalar P1: one DoF per vertex</a:t>
            </a:r>
          </a:p>
        </p:txBody>
      </p:sp>
      <p:sp>
        <p:nvSpPr>
          <p:cNvPr id="52" name="00-051-text"/>
          <p:cNvSpPr txBox="1"/>
          <p:nvPr/>
        </p:nvSpPr>
        <p:spPr>
          <a:xfrm>
            <a:off x="8486775" y="2809875"/>
            <a:ext cx="2895600" cy="6696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825" b="1">
                <a:solidFill>
                  <a:srgbClr val="087D70"/>
                </a:solidFill>
                <a:latin typeface="DejaVu Sans"/>
              </a:defRPr>
            </a:pPr>
            <a:r>
              <a:t>Au = b</a:t>
            </a:r>
          </a:p>
        </p:txBody>
      </p:sp>
      <p:sp>
        <p:nvSpPr>
          <p:cNvPr id="53" name="00-052-rect"/>
          <p:cNvSpPr/>
          <p:nvPr/>
        </p:nvSpPr>
        <p:spPr>
          <a:xfrm>
            <a:off x="9372600" y="3552825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00-053-rect"/>
          <p:cNvSpPr/>
          <p:nvPr/>
        </p:nvSpPr>
        <p:spPr>
          <a:xfrm>
            <a:off x="9544050" y="3552825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00-054-rect"/>
          <p:cNvSpPr/>
          <p:nvPr/>
        </p:nvSpPr>
        <p:spPr>
          <a:xfrm>
            <a:off x="9372600" y="3695700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00-055-rect"/>
          <p:cNvSpPr/>
          <p:nvPr/>
        </p:nvSpPr>
        <p:spPr>
          <a:xfrm>
            <a:off x="9544050" y="3695700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0-056-rect"/>
          <p:cNvSpPr/>
          <p:nvPr/>
        </p:nvSpPr>
        <p:spPr>
          <a:xfrm>
            <a:off x="9715500" y="3695700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00-057-rect"/>
          <p:cNvSpPr/>
          <p:nvPr/>
        </p:nvSpPr>
        <p:spPr>
          <a:xfrm>
            <a:off x="9544050" y="3838575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00-058-rect"/>
          <p:cNvSpPr/>
          <p:nvPr/>
        </p:nvSpPr>
        <p:spPr>
          <a:xfrm>
            <a:off x="9715500" y="3838575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00-059-rect"/>
          <p:cNvSpPr/>
          <p:nvPr/>
        </p:nvSpPr>
        <p:spPr>
          <a:xfrm>
            <a:off x="9886950" y="3838575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00-060-rect"/>
          <p:cNvSpPr/>
          <p:nvPr/>
        </p:nvSpPr>
        <p:spPr>
          <a:xfrm>
            <a:off x="9715500" y="3981450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00-061-rect"/>
          <p:cNvSpPr/>
          <p:nvPr/>
        </p:nvSpPr>
        <p:spPr>
          <a:xfrm>
            <a:off x="9886950" y="3981450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0-062-rect"/>
          <p:cNvSpPr/>
          <p:nvPr/>
        </p:nvSpPr>
        <p:spPr>
          <a:xfrm>
            <a:off x="10058400" y="3981450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00-063-rect"/>
          <p:cNvSpPr/>
          <p:nvPr/>
        </p:nvSpPr>
        <p:spPr>
          <a:xfrm>
            <a:off x="9886950" y="4124325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00-064-rect"/>
          <p:cNvSpPr/>
          <p:nvPr/>
        </p:nvSpPr>
        <p:spPr>
          <a:xfrm>
            <a:off x="10058400" y="4124325"/>
            <a:ext cx="114300" cy="9525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00-065-text"/>
          <p:cNvSpPr txBox="1"/>
          <p:nvPr/>
        </p:nvSpPr>
        <p:spPr>
          <a:xfrm>
            <a:off x="8477250" y="4400550"/>
            <a:ext cx="2952750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46477"/>
                </a:solidFill>
                <a:latin typeface="DejaVu Sans"/>
              </a:defRPr>
            </a:pPr>
            <a:r>
              <a:t>Sparse coupling between DoFs</a:t>
            </a:r>
          </a:p>
        </p:txBody>
      </p:sp>
      <p:sp>
        <p:nvSpPr>
          <p:cNvPr id="67" name="00-066-line"/>
          <p:cNvSpPr/>
          <p:nvPr/>
        </p:nvSpPr>
        <p:spPr>
          <a:xfrm>
            <a:off x="4029075" y="3276600"/>
            <a:ext cx="266700" cy="0"/>
          </a:xfrm>
          <a:custGeom>
            <a:avLst/>
            <a:gdLst/>
            <a:ahLst/>
            <a:cxnLst/>
            <a:rect l="l" t="t" r="r" b="b"/>
            <a:pathLst>
              <a:path w="28" h="0">
                <a:moveTo>
                  <a:pt x="0" y="0"/>
                </a:moveTo>
                <a:lnTo>
                  <a:pt x="28" y="0"/>
                </a:lnTo>
              </a:path>
            </a:pathLst>
          </a:custGeom>
          <a:noFill/>
          <a:ln w="28575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00-067-poly"/>
          <p:cNvSpPr/>
          <p:nvPr/>
        </p:nvSpPr>
        <p:spPr>
          <a:xfrm>
            <a:off x="4200525" y="32289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54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00-068-line"/>
          <p:cNvSpPr/>
          <p:nvPr/>
        </p:nvSpPr>
        <p:spPr>
          <a:xfrm>
            <a:off x="7886700" y="3276600"/>
            <a:ext cx="266700" cy="0"/>
          </a:xfrm>
          <a:custGeom>
            <a:avLst/>
            <a:gdLst/>
            <a:ahLst/>
            <a:cxnLst/>
            <a:rect l="l" t="t" r="r" b="b"/>
            <a:pathLst>
              <a:path w="28" h="0">
                <a:moveTo>
                  <a:pt x="0" y="0"/>
                </a:moveTo>
                <a:lnTo>
                  <a:pt x="28" y="0"/>
                </a:lnTo>
              </a:path>
            </a:pathLst>
          </a:custGeom>
          <a:noFill/>
          <a:ln w="28575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00-069-poly"/>
          <p:cNvSpPr/>
          <p:nvPr/>
        </p:nvSpPr>
        <p:spPr>
          <a:xfrm>
            <a:off x="8058150" y="32289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54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00-070-text"/>
          <p:cNvSpPr txBox="1"/>
          <p:nvPr/>
        </p:nvSpPr>
        <p:spPr>
          <a:xfrm>
            <a:off x="533400" y="5238750"/>
            <a:ext cx="108585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72638"/>
                </a:solidFill>
                <a:latin typeface="DejaVu Sans"/>
              </a:defRPr>
            </a:pPr>
            <a:r>
              <a:t>FEniCSx: the platform     •     DOLFINx: meshes, function spaces and distributed assembly</a:t>
            </a:r>
          </a:p>
        </p:txBody>
      </p:sp>
      <p:sp>
        <p:nvSpPr>
          <p:cNvPr id="72" name="00-071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00-072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00-073-text"/>
          <p:cNvSpPr txBox="1"/>
          <p:nvPr/>
        </p:nvSpPr>
        <p:spPr>
          <a:xfrm>
            <a:off x="723900" y="58769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Local finite-element support creates sparse algebra with distributed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OWNERSHIP</a:t>
            </a:r>
          </a:p>
        </p:txBody>
      </p:sp>
      <p:sp>
        <p:nvSpPr>
          <p:cNvPr id="3" name="01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1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One mesh, two MPI ranks</a:t>
            </a:r>
          </a:p>
        </p:txBody>
      </p:sp>
      <p:sp>
        <p:nvSpPr>
          <p:cNvPr id="5" name="01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Scalar P1 • colors identify the owner • outlines identify local ghost copies</a:t>
            </a:r>
          </a:p>
        </p:txBody>
      </p:sp>
      <p:sp>
        <p:nvSpPr>
          <p:cNvPr id="6" name="01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1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1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1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1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1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1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1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1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1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7" name="01-016-text"/>
          <p:cNvSpPr txBox="1"/>
          <p:nvPr/>
        </p:nvSpPr>
        <p:spPr>
          <a:xfrm>
            <a:off x="619125" y="1733550"/>
            <a:ext cx="2667000" cy="2238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546477"/>
                </a:solidFill>
                <a:latin typeface="DejaVu Sans"/>
              </a:defRPr>
            </a:pPr>
            <a:r>
              <a:t>GLOBAL CELL PARTITION</a:t>
            </a:r>
          </a:p>
        </p:txBody>
      </p:sp>
      <p:sp>
        <p:nvSpPr>
          <p:cNvPr id="18" name="01-017-poly"/>
          <p:cNvSpPr/>
          <p:nvPr/>
        </p:nvSpPr>
        <p:spPr>
          <a:xfrm>
            <a:off x="838200" y="2571750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62" y="0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01-018-poly"/>
          <p:cNvSpPr/>
          <p:nvPr/>
        </p:nvSpPr>
        <p:spPr>
          <a:xfrm>
            <a:off x="838200" y="2571750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0" y="75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1-019-poly"/>
          <p:cNvSpPr/>
          <p:nvPr/>
        </p:nvSpPr>
        <p:spPr>
          <a:xfrm>
            <a:off x="1428750" y="2571750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62" y="0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01-020-poly"/>
          <p:cNvSpPr/>
          <p:nvPr/>
        </p:nvSpPr>
        <p:spPr>
          <a:xfrm>
            <a:off x="1428750" y="2571750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0" y="75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1-021-poly"/>
          <p:cNvSpPr/>
          <p:nvPr/>
        </p:nvSpPr>
        <p:spPr>
          <a:xfrm>
            <a:off x="2019300" y="2571750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62" y="0"/>
                </a:lnTo>
                <a:lnTo>
                  <a:pt x="62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01-022-poly"/>
          <p:cNvSpPr/>
          <p:nvPr/>
        </p:nvSpPr>
        <p:spPr>
          <a:xfrm>
            <a:off x="2019300" y="2571750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0" y="75"/>
                </a:lnTo>
                <a:lnTo>
                  <a:pt x="62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1-023-poly"/>
          <p:cNvSpPr/>
          <p:nvPr/>
        </p:nvSpPr>
        <p:spPr>
          <a:xfrm>
            <a:off x="838200" y="3286125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62" y="0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1-024-poly"/>
          <p:cNvSpPr/>
          <p:nvPr/>
        </p:nvSpPr>
        <p:spPr>
          <a:xfrm>
            <a:off x="838200" y="3286125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0" y="75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1-025-poly"/>
          <p:cNvSpPr/>
          <p:nvPr/>
        </p:nvSpPr>
        <p:spPr>
          <a:xfrm>
            <a:off x="1428750" y="3286125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62" y="0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1-026-poly"/>
          <p:cNvSpPr/>
          <p:nvPr/>
        </p:nvSpPr>
        <p:spPr>
          <a:xfrm>
            <a:off x="1428750" y="3286125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0" y="75"/>
                </a:lnTo>
                <a:lnTo>
                  <a:pt x="62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1-027-poly"/>
          <p:cNvSpPr/>
          <p:nvPr/>
        </p:nvSpPr>
        <p:spPr>
          <a:xfrm>
            <a:off x="2019300" y="3286125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62" y="0"/>
                </a:lnTo>
                <a:lnTo>
                  <a:pt x="62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01-028-poly"/>
          <p:cNvSpPr/>
          <p:nvPr/>
        </p:nvSpPr>
        <p:spPr>
          <a:xfrm>
            <a:off x="2019300" y="3286125"/>
            <a:ext cx="590550" cy="714375"/>
          </a:xfrm>
          <a:custGeom>
            <a:avLst/>
            <a:gdLst/>
            <a:ahLst/>
            <a:cxnLst/>
            <a:rect l="l" t="t" r="r" b="b"/>
            <a:pathLst>
              <a:path w="62" h="75">
                <a:moveTo>
                  <a:pt x="0" y="0"/>
                </a:moveTo>
                <a:lnTo>
                  <a:pt x="0" y="75"/>
                </a:lnTo>
                <a:lnTo>
                  <a:pt x="62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01-029-ellipse"/>
          <p:cNvSpPr/>
          <p:nvPr/>
        </p:nvSpPr>
        <p:spPr>
          <a:xfrm>
            <a:off x="733425" y="2466975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01-030-text"/>
          <p:cNvSpPr txBox="1"/>
          <p:nvPr/>
        </p:nvSpPr>
        <p:spPr>
          <a:xfrm>
            <a:off x="742950" y="248602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32" name="01-031-ellipse"/>
          <p:cNvSpPr/>
          <p:nvPr/>
        </p:nvSpPr>
        <p:spPr>
          <a:xfrm>
            <a:off x="1323975" y="2466975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01-032-text"/>
          <p:cNvSpPr txBox="1"/>
          <p:nvPr/>
        </p:nvSpPr>
        <p:spPr>
          <a:xfrm>
            <a:off x="1333500" y="248602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34" name="01-033-ellipse"/>
          <p:cNvSpPr/>
          <p:nvPr/>
        </p:nvSpPr>
        <p:spPr>
          <a:xfrm>
            <a:off x="1914525" y="2466975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1-034-text"/>
          <p:cNvSpPr txBox="1"/>
          <p:nvPr/>
        </p:nvSpPr>
        <p:spPr>
          <a:xfrm>
            <a:off x="1924050" y="248602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36" name="01-035-ellipse"/>
          <p:cNvSpPr/>
          <p:nvPr/>
        </p:nvSpPr>
        <p:spPr>
          <a:xfrm>
            <a:off x="2505075" y="2466975"/>
            <a:ext cx="209550" cy="20955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1-036-text"/>
          <p:cNvSpPr txBox="1"/>
          <p:nvPr/>
        </p:nvSpPr>
        <p:spPr>
          <a:xfrm>
            <a:off x="2514600" y="248602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8" name="01-037-ellipse"/>
          <p:cNvSpPr/>
          <p:nvPr/>
        </p:nvSpPr>
        <p:spPr>
          <a:xfrm>
            <a:off x="733425" y="3181350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1-038-text"/>
          <p:cNvSpPr txBox="1"/>
          <p:nvPr/>
        </p:nvSpPr>
        <p:spPr>
          <a:xfrm>
            <a:off x="742950" y="3200400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40" name="01-039-ellipse"/>
          <p:cNvSpPr/>
          <p:nvPr/>
        </p:nvSpPr>
        <p:spPr>
          <a:xfrm>
            <a:off x="1323975" y="3181350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01-040-text"/>
          <p:cNvSpPr txBox="1"/>
          <p:nvPr/>
        </p:nvSpPr>
        <p:spPr>
          <a:xfrm>
            <a:off x="1333500" y="3200400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42" name="01-041-ellipse"/>
          <p:cNvSpPr/>
          <p:nvPr/>
        </p:nvSpPr>
        <p:spPr>
          <a:xfrm>
            <a:off x="1914525" y="3181350"/>
            <a:ext cx="209550" cy="20955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01-042-text"/>
          <p:cNvSpPr txBox="1"/>
          <p:nvPr/>
        </p:nvSpPr>
        <p:spPr>
          <a:xfrm>
            <a:off x="1924050" y="3200400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44" name="01-043-ellipse"/>
          <p:cNvSpPr/>
          <p:nvPr/>
        </p:nvSpPr>
        <p:spPr>
          <a:xfrm>
            <a:off x="2505075" y="3181350"/>
            <a:ext cx="209550" cy="20955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1-044-text"/>
          <p:cNvSpPr txBox="1"/>
          <p:nvPr/>
        </p:nvSpPr>
        <p:spPr>
          <a:xfrm>
            <a:off x="2514600" y="3200400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46" name="01-045-ellipse"/>
          <p:cNvSpPr/>
          <p:nvPr/>
        </p:nvSpPr>
        <p:spPr>
          <a:xfrm>
            <a:off x="733425" y="3895725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1-046-text"/>
          <p:cNvSpPr txBox="1"/>
          <p:nvPr/>
        </p:nvSpPr>
        <p:spPr>
          <a:xfrm>
            <a:off x="742950" y="391477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48" name="01-047-ellipse"/>
          <p:cNvSpPr/>
          <p:nvPr/>
        </p:nvSpPr>
        <p:spPr>
          <a:xfrm>
            <a:off x="1323975" y="3895725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01-048-text"/>
          <p:cNvSpPr txBox="1"/>
          <p:nvPr/>
        </p:nvSpPr>
        <p:spPr>
          <a:xfrm>
            <a:off x="1333500" y="391477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50" name="01-049-ellipse"/>
          <p:cNvSpPr/>
          <p:nvPr/>
        </p:nvSpPr>
        <p:spPr>
          <a:xfrm>
            <a:off x="1914525" y="3895725"/>
            <a:ext cx="209550" cy="20955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01-050-text"/>
          <p:cNvSpPr txBox="1"/>
          <p:nvPr/>
        </p:nvSpPr>
        <p:spPr>
          <a:xfrm>
            <a:off x="1924050" y="391477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52" name="01-051-ellipse"/>
          <p:cNvSpPr/>
          <p:nvPr/>
        </p:nvSpPr>
        <p:spPr>
          <a:xfrm>
            <a:off x="2505075" y="3895725"/>
            <a:ext cx="209550" cy="20955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01-052-text"/>
          <p:cNvSpPr txBox="1"/>
          <p:nvPr/>
        </p:nvSpPr>
        <p:spPr>
          <a:xfrm>
            <a:off x="2514600" y="3914775"/>
            <a:ext cx="1905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54" name="01-053-text"/>
          <p:cNvSpPr txBox="1"/>
          <p:nvPr/>
        </p:nvSpPr>
        <p:spPr>
          <a:xfrm>
            <a:off x="600075" y="4324350"/>
            <a:ext cx="2743200" cy="434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Illustrative ownership;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actual IDs come from IndexMap.</a:t>
            </a:r>
          </a:p>
        </p:txBody>
      </p:sp>
      <p:sp>
        <p:nvSpPr>
          <p:cNvPr id="55" name="01-054-rect"/>
          <p:cNvSpPr/>
          <p:nvPr/>
        </p:nvSpPr>
        <p:spPr>
          <a:xfrm>
            <a:off x="609600" y="4981575"/>
            <a:ext cx="1114425" cy="323850"/>
          </a:xfrm>
          <a:prstGeom prst="roundRect">
            <a:avLst>
              <a:gd name="adj" fmla="val 17647"/>
            </a:avLst>
          </a:prstGeom>
          <a:solidFill>
            <a:srgbClr val="EFF5FF"/>
          </a:solidFill>
          <a:ln w="11429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01-055-text"/>
          <p:cNvSpPr txBox="1"/>
          <p:nvPr/>
        </p:nvSpPr>
        <p:spPr>
          <a:xfrm>
            <a:off x="704850" y="5029200"/>
            <a:ext cx="923925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463C9"/>
                </a:solidFill>
                <a:latin typeface="DejaVu Sans"/>
              </a:defRPr>
            </a:pPr>
            <a:r>
              <a:t>Rank 0</a:t>
            </a:r>
          </a:p>
        </p:txBody>
      </p:sp>
      <p:sp>
        <p:nvSpPr>
          <p:cNvPr id="57" name="01-056-rect"/>
          <p:cNvSpPr/>
          <p:nvPr/>
        </p:nvSpPr>
        <p:spPr>
          <a:xfrm>
            <a:off x="1838325" y="4981575"/>
            <a:ext cx="1114425" cy="323850"/>
          </a:xfrm>
          <a:prstGeom prst="roundRect">
            <a:avLst>
              <a:gd name="adj" fmla="val 17647"/>
            </a:avLst>
          </a:prstGeom>
          <a:solidFill>
            <a:srgbClr val="FFF3EB"/>
          </a:solidFill>
          <a:ln w="11429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01-057-text"/>
          <p:cNvSpPr txBox="1"/>
          <p:nvPr/>
        </p:nvSpPr>
        <p:spPr>
          <a:xfrm>
            <a:off x="1933575" y="5029200"/>
            <a:ext cx="923925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8531C"/>
                </a:solidFill>
                <a:latin typeface="DejaVu Sans"/>
              </a:defRPr>
            </a:pPr>
            <a:r>
              <a:t>Rank 1</a:t>
            </a:r>
          </a:p>
        </p:txBody>
      </p:sp>
      <p:sp>
        <p:nvSpPr>
          <p:cNvPr id="59" name="01-058-line"/>
          <p:cNvSpPr/>
          <p:nvPr/>
        </p:nvSpPr>
        <p:spPr>
          <a:xfrm>
            <a:off x="3028950" y="3343275"/>
            <a:ext cx="561975" cy="0"/>
          </a:xfrm>
          <a:custGeom>
            <a:avLst/>
            <a:gdLst/>
            <a:ahLst/>
            <a:cxnLst/>
            <a:rect l="l" t="t" r="r" b="b"/>
            <a:pathLst>
              <a:path w="59" h="0">
                <a:moveTo>
                  <a:pt x="0" y="0"/>
                </a:moveTo>
                <a:lnTo>
                  <a:pt x="59" y="0"/>
                </a:lnTo>
              </a:path>
            </a:pathLst>
          </a:custGeom>
          <a:noFill/>
          <a:ln w="23812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01-059-poly"/>
          <p:cNvSpPr/>
          <p:nvPr/>
        </p:nvSpPr>
        <p:spPr>
          <a:xfrm>
            <a:off x="3495675" y="32956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54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01-060-rect"/>
          <p:cNvSpPr/>
          <p:nvPr/>
        </p:nvSpPr>
        <p:spPr>
          <a:xfrm>
            <a:off x="3790950" y="1733550"/>
            <a:ext cx="3638550" cy="3714750"/>
          </a:xfrm>
          <a:prstGeom prst="roundRect">
            <a:avLst>
              <a:gd name="adj" fmla="val 314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01-061-rect"/>
          <p:cNvSpPr/>
          <p:nvPr/>
        </p:nvSpPr>
        <p:spPr>
          <a:xfrm>
            <a:off x="8001000" y="1733550"/>
            <a:ext cx="3657600" cy="3714750"/>
          </a:xfrm>
          <a:prstGeom prst="roundRect">
            <a:avLst>
              <a:gd name="adj" fmla="val 312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1-062-text"/>
          <p:cNvSpPr txBox="1"/>
          <p:nvPr/>
        </p:nvSpPr>
        <p:spPr>
          <a:xfrm>
            <a:off x="4000500" y="1905000"/>
            <a:ext cx="32385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63C9"/>
                </a:solidFill>
                <a:latin typeface="DejaVu Sans"/>
              </a:defRPr>
            </a:pPr>
            <a:r>
              <a:t>RANK 0   /   8 owned + 1 ghost</a:t>
            </a:r>
          </a:p>
        </p:txBody>
      </p:sp>
      <p:sp>
        <p:nvSpPr>
          <p:cNvPr id="64" name="01-063-text"/>
          <p:cNvSpPr txBox="1"/>
          <p:nvPr/>
        </p:nvSpPr>
        <p:spPr>
          <a:xfrm>
            <a:off x="8191500" y="1905000"/>
            <a:ext cx="32766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C8531C"/>
                </a:solidFill>
                <a:latin typeface="DejaVu Sans"/>
              </a:defRPr>
            </a:pPr>
            <a:r>
              <a:t>RANK 1   /   4 owned + 2 ghosts</a:t>
            </a:r>
          </a:p>
        </p:txBody>
      </p:sp>
      <p:sp>
        <p:nvSpPr>
          <p:cNvPr id="65" name="01-064-poly"/>
          <p:cNvSpPr/>
          <p:nvPr/>
        </p:nvSpPr>
        <p:spPr>
          <a:xfrm>
            <a:off x="4286250" y="2571750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100" y="0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01-065-poly"/>
          <p:cNvSpPr/>
          <p:nvPr/>
        </p:nvSpPr>
        <p:spPr>
          <a:xfrm>
            <a:off x="4286250" y="2571750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0" y="75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01-066-poly"/>
          <p:cNvSpPr/>
          <p:nvPr/>
        </p:nvSpPr>
        <p:spPr>
          <a:xfrm>
            <a:off x="5238750" y="2571750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100" y="0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01-067-poly"/>
          <p:cNvSpPr/>
          <p:nvPr/>
        </p:nvSpPr>
        <p:spPr>
          <a:xfrm>
            <a:off x="5238750" y="2571750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0" y="75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01-068-poly"/>
          <p:cNvSpPr/>
          <p:nvPr/>
        </p:nvSpPr>
        <p:spPr>
          <a:xfrm>
            <a:off x="4286250" y="3286125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100" y="0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01-069-poly"/>
          <p:cNvSpPr/>
          <p:nvPr/>
        </p:nvSpPr>
        <p:spPr>
          <a:xfrm>
            <a:off x="4286250" y="3286125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0" y="75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01-070-poly"/>
          <p:cNvSpPr/>
          <p:nvPr/>
        </p:nvSpPr>
        <p:spPr>
          <a:xfrm>
            <a:off x="5238750" y="3286125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100" y="0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01-071-poly"/>
          <p:cNvSpPr/>
          <p:nvPr/>
        </p:nvSpPr>
        <p:spPr>
          <a:xfrm>
            <a:off x="5238750" y="3286125"/>
            <a:ext cx="952500" cy="714375"/>
          </a:xfrm>
          <a:custGeom>
            <a:avLst/>
            <a:gdLst/>
            <a:ahLst/>
            <a:cxnLst/>
            <a:rect l="l" t="t" r="r" b="b"/>
            <a:pathLst>
              <a:path w="100" h="75">
                <a:moveTo>
                  <a:pt x="0" y="0"/>
                </a:moveTo>
                <a:lnTo>
                  <a:pt x="0" y="75"/>
                </a:lnTo>
                <a:lnTo>
                  <a:pt x="100" y="75"/>
                </a:lnTo>
                <a:close/>
              </a:path>
            </a:pathLst>
          </a:custGeom>
          <a:solidFill>
            <a:srgbClr val="EFF5FF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01-072-ellipse"/>
          <p:cNvSpPr/>
          <p:nvPr/>
        </p:nvSpPr>
        <p:spPr>
          <a:xfrm>
            <a:off x="4171950" y="2457450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01-073-text"/>
          <p:cNvSpPr txBox="1"/>
          <p:nvPr/>
        </p:nvSpPr>
        <p:spPr>
          <a:xfrm>
            <a:off x="4181475" y="248602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75" name="01-074-ellipse"/>
          <p:cNvSpPr/>
          <p:nvPr/>
        </p:nvSpPr>
        <p:spPr>
          <a:xfrm>
            <a:off x="5124450" y="2457450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01-075-text"/>
          <p:cNvSpPr txBox="1"/>
          <p:nvPr/>
        </p:nvSpPr>
        <p:spPr>
          <a:xfrm>
            <a:off x="5133975" y="248602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77" name="01-076-ellipse"/>
          <p:cNvSpPr/>
          <p:nvPr/>
        </p:nvSpPr>
        <p:spPr>
          <a:xfrm>
            <a:off x="6076950" y="2457450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01-077-text"/>
          <p:cNvSpPr txBox="1"/>
          <p:nvPr/>
        </p:nvSpPr>
        <p:spPr>
          <a:xfrm>
            <a:off x="6086475" y="248602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79" name="01-078-ellipse"/>
          <p:cNvSpPr/>
          <p:nvPr/>
        </p:nvSpPr>
        <p:spPr>
          <a:xfrm>
            <a:off x="4171950" y="3171825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01-079-text"/>
          <p:cNvSpPr txBox="1"/>
          <p:nvPr/>
        </p:nvSpPr>
        <p:spPr>
          <a:xfrm>
            <a:off x="4181475" y="3200400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81" name="01-080-ellipse"/>
          <p:cNvSpPr/>
          <p:nvPr/>
        </p:nvSpPr>
        <p:spPr>
          <a:xfrm>
            <a:off x="5124450" y="3171825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01-081-text"/>
          <p:cNvSpPr txBox="1"/>
          <p:nvPr/>
        </p:nvSpPr>
        <p:spPr>
          <a:xfrm>
            <a:off x="5133975" y="3200400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83" name="01-082-ellipse"/>
          <p:cNvSpPr/>
          <p:nvPr/>
        </p:nvSpPr>
        <p:spPr>
          <a:xfrm>
            <a:off x="6076950" y="3171825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01-083-text"/>
          <p:cNvSpPr txBox="1"/>
          <p:nvPr/>
        </p:nvSpPr>
        <p:spPr>
          <a:xfrm>
            <a:off x="6086475" y="3200400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8531C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85" name="01-084-ellipse"/>
          <p:cNvSpPr/>
          <p:nvPr/>
        </p:nvSpPr>
        <p:spPr>
          <a:xfrm>
            <a:off x="4171950" y="3886200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01-085-text"/>
          <p:cNvSpPr txBox="1"/>
          <p:nvPr/>
        </p:nvSpPr>
        <p:spPr>
          <a:xfrm>
            <a:off x="4181475" y="391477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87" name="01-086-ellipse"/>
          <p:cNvSpPr/>
          <p:nvPr/>
        </p:nvSpPr>
        <p:spPr>
          <a:xfrm>
            <a:off x="5124450" y="3886200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01-087-text"/>
          <p:cNvSpPr txBox="1"/>
          <p:nvPr/>
        </p:nvSpPr>
        <p:spPr>
          <a:xfrm>
            <a:off x="5133975" y="391477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89" name="01-088-ellipse"/>
          <p:cNvSpPr/>
          <p:nvPr/>
        </p:nvSpPr>
        <p:spPr>
          <a:xfrm>
            <a:off x="6076950" y="3886200"/>
            <a:ext cx="228600" cy="228600"/>
          </a:xfrm>
          <a:prstGeom prst="ellipse">
            <a:avLst/>
          </a:prstGeom>
          <a:solidFill>
            <a:srgbClr val="2463C9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01-089-text"/>
          <p:cNvSpPr txBox="1"/>
          <p:nvPr/>
        </p:nvSpPr>
        <p:spPr>
          <a:xfrm>
            <a:off x="6086475" y="391477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91" name="01-090-poly"/>
          <p:cNvSpPr/>
          <p:nvPr/>
        </p:nvSpPr>
        <p:spPr>
          <a:xfrm>
            <a:off x="9191625" y="2571750"/>
            <a:ext cx="1381125" cy="714375"/>
          </a:xfrm>
          <a:custGeom>
            <a:avLst/>
            <a:gdLst/>
            <a:ahLst/>
            <a:cxnLst/>
            <a:rect l="l" t="t" r="r" b="b"/>
            <a:pathLst>
              <a:path w="145" h="75">
                <a:moveTo>
                  <a:pt x="0" y="0"/>
                </a:moveTo>
                <a:lnTo>
                  <a:pt x="145" y="0"/>
                </a:lnTo>
                <a:lnTo>
                  <a:pt x="145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01-091-poly"/>
          <p:cNvSpPr/>
          <p:nvPr/>
        </p:nvSpPr>
        <p:spPr>
          <a:xfrm>
            <a:off x="9191625" y="2571750"/>
            <a:ext cx="1381125" cy="714375"/>
          </a:xfrm>
          <a:custGeom>
            <a:avLst/>
            <a:gdLst/>
            <a:ahLst/>
            <a:cxnLst/>
            <a:rect l="l" t="t" r="r" b="b"/>
            <a:pathLst>
              <a:path w="145" h="75">
                <a:moveTo>
                  <a:pt x="0" y="0"/>
                </a:moveTo>
                <a:lnTo>
                  <a:pt x="0" y="75"/>
                </a:lnTo>
                <a:lnTo>
                  <a:pt x="145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01-092-poly"/>
          <p:cNvSpPr/>
          <p:nvPr/>
        </p:nvSpPr>
        <p:spPr>
          <a:xfrm>
            <a:off x="9191625" y="3286125"/>
            <a:ext cx="1381125" cy="714375"/>
          </a:xfrm>
          <a:custGeom>
            <a:avLst/>
            <a:gdLst/>
            <a:ahLst/>
            <a:cxnLst/>
            <a:rect l="l" t="t" r="r" b="b"/>
            <a:pathLst>
              <a:path w="145" h="75">
                <a:moveTo>
                  <a:pt x="0" y="0"/>
                </a:moveTo>
                <a:lnTo>
                  <a:pt x="145" y="0"/>
                </a:lnTo>
                <a:lnTo>
                  <a:pt x="145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01-093-poly"/>
          <p:cNvSpPr/>
          <p:nvPr/>
        </p:nvSpPr>
        <p:spPr>
          <a:xfrm>
            <a:off x="9191625" y="3286125"/>
            <a:ext cx="1381125" cy="714375"/>
          </a:xfrm>
          <a:custGeom>
            <a:avLst/>
            <a:gdLst/>
            <a:ahLst/>
            <a:cxnLst/>
            <a:rect l="l" t="t" r="r" b="b"/>
            <a:pathLst>
              <a:path w="145" h="75">
                <a:moveTo>
                  <a:pt x="0" y="0"/>
                </a:moveTo>
                <a:lnTo>
                  <a:pt x="0" y="75"/>
                </a:lnTo>
                <a:lnTo>
                  <a:pt x="145" y="75"/>
                </a:lnTo>
                <a:close/>
              </a:path>
            </a:pathLst>
          </a:custGeom>
          <a:solidFill>
            <a:srgbClr val="FFF3EB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01-094-ellipse"/>
          <p:cNvSpPr/>
          <p:nvPr/>
        </p:nvSpPr>
        <p:spPr>
          <a:xfrm>
            <a:off x="9077325" y="245745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01-095-text"/>
          <p:cNvSpPr txBox="1"/>
          <p:nvPr/>
        </p:nvSpPr>
        <p:spPr>
          <a:xfrm>
            <a:off x="9086850" y="248602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463C9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97" name="01-096-ellipse"/>
          <p:cNvSpPr/>
          <p:nvPr/>
        </p:nvSpPr>
        <p:spPr>
          <a:xfrm>
            <a:off x="10458450" y="2457450"/>
            <a:ext cx="228600" cy="22860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01-097-text"/>
          <p:cNvSpPr txBox="1"/>
          <p:nvPr/>
        </p:nvSpPr>
        <p:spPr>
          <a:xfrm>
            <a:off x="10467975" y="248602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99" name="01-098-ellipse"/>
          <p:cNvSpPr/>
          <p:nvPr/>
        </p:nvSpPr>
        <p:spPr>
          <a:xfrm>
            <a:off x="9077325" y="3171825"/>
            <a:ext cx="228600" cy="22860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01-099-text"/>
          <p:cNvSpPr txBox="1"/>
          <p:nvPr/>
        </p:nvSpPr>
        <p:spPr>
          <a:xfrm>
            <a:off x="9086850" y="3200400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101" name="01-100-ellipse"/>
          <p:cNvSpPr/>
          <p:nvPr/>
        </p:nvSpPr>
        <p:spPr>
          <a:xfrm>
            <a:off x="10458450" y="3171825"/>
            <a:ext cx="228600" cy="22860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01-101-text"/>
          <p:cNvSpPr txBox="1"/>
          <p:nvPr/>
        </p:nvSpPr>
        <p:spPr>
          <a:xfrm>
            <a:off x="10467975" y="3200400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103" name="01-102-ellipse"/>
          <p:cNvSpPr/>
          <p:nvPr/>
        </p:nvSpPr>
        <p:spPr>
          <a:xfrm>
            <a:off x="9077325" y="388620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01-103-text"/>
          <p:cNvSpPr txBox="1"/>
          <p:nvPr/>
        </p:nvSpPr>
        <p:spPr>
          <a:xfrm>
            <a:off x="9086850" y="391477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463C9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105" name="01-104-ellipse"/>
          <p:cNvSpPr/>
          <p:nvPr/>
        </p:nvSpPr>
        <p:spPr>
          <a:xfrm>
            <a:off x="10458450" y="3886200"/>
            <a:ext cx="228600" cy="228600"/>
          </a:xfrm>
          <a:prstGeom prst="ellipse">
            <a:avLst/>
          </a:prstGeom>
          <a:solidFill>
            <a:srgbClr val="C8531C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01-105-text"/>
          <p:cNvSpPr txBox="1"/>
          <p:nvPr/>
        </p:nvSpPr>
        <p:spPr>
          <a:xfrm>
            <a:off x="10467975" y="3914775"/>
            <a:ext cx="20955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107" name="01-106-line"/>
          <p:cNvSpPr/>
          <p:nvPr/>
        </p:nvSpPr>
        <p:spPr>
          <a:xfrm>
            <a:off x="6343650" y="2571750"/>
            <a:ext cx="2676525" cy="0"/>
          </a:xfrm>
          <a:custGeom>
            <a:avLst/>
            <a:gdLst/>
            <a:ahLst/>
            <a:cxnLst/>
            <a:rect l="l" t="t" r="r" b="b"/>
            <a:pathLst>
              <a:path w="281" h="0">
                <a:moveTo>
                  <a:pt x="0" y="0"/>
                </a:moveTo>
                <a:lnTo>
                  <a:pt x="281" y="0"/>
                </a:lnTo>
              </a:path>
            </a:pathLst>
          </a:custGeom>
          <a:noFill/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01-107-poly"/>
          <p:cNvSpPr/>
          <p:nvPr/>
        </p:nvSpPr>
        <p:spPr>
          <a:xfrm>
            <a:off x="8924925" y="2524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01-108-rect"/>
          <p:cNvSpPr/>
          <p:nvPr/>
        </p:nvSpPr>
        <p:spPr>
          <a:xfrm>
            <a:off x="7048500" y="2305050"/>
            <a:ext cx="11049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01-109-text"/>
          <p:cNvSpPr txBox="1"/>
          <p:nvPr/>
        </p:nvSpPr>
        <p:spPr>
          <a:xfrm>
            <a:off x="7086600" y="2324100"/>
            <a:ext cx="1028700" cy="2238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2463C9"/>
                </a:solidFill>
                <a:latin typeface="DejaVu Sans"/>
              </a:defRPr>
            </a:pPr>
            <a:r>
              <a:t>copy u₂</a:t>
            </a:r>
          </a:p>
        </p:txBody>
      </p:sp>
      <p:sp>
        <p:nvSpPr>
          <p:cNvPr id="111" name="01-110-line"/>
          <p:cNvSpPr/>
          <p:nvPr/>
        </p:nvSpPr>
        <p:spPr>
          <a:xfrm>
            <a:off x="6362700" y="3286125"/>
            <a:ext cx="2676525" cy="0"/>
          </a:xfrm>
          <a:custGeom>
            <a:avLst/>
            <a:gdLst/>
            <a:ahLst/>
            <a:cxnLst/>
            <a:rect l="l" t="t" r="r" b="b"/>
            <a:pathLst>
              <a:path w="281" h="0">
                <a:moveTo>
                  <a:pt x="281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01-111-poly"/>
          <p:cNvSpPr/>
          <p:nvPr/>
        </p:nvSpPr>
        <p:spPr>
          <a:xfrm>
            <a:off x="6362700" y="3238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C85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01-112-rect"/>
          <p:cNvSpPr/>
          <p:nvPr/>
        </p:nvSpPr>
        <p:spPr>
          <a:xfrm>
            <a:off x="7048500" y="3019425"/>
            <a:ext cx="11049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01-113-text"/>
          <p:cNvSpPr txBox="1"/>
          <p:nvPr/>
        </p:nvSpPr>
        <p:spPr>
          <a:xfrm>
            <a:off x="7086600" y="3038475"/>
            <a:ext cx="1028700" cy="2238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8531C"/>
                </a:solidFill>
                <a:latin typeface="DejaVu Sans"/>
              </a:defRPr>
            </a:pPr>
            <a:r>
              <a:t>copy u₆</a:t>
            </a:r>
          </a:p>
        </p:txBody>
      </p:sp>
      <p:sp>
        <p:nvSpPr>
          <p:cNvPr id="115" name="01-114-line"/>
          <p:cNvSpPr/>
          <p:nvPr/>
        </p:nvSpPr>
        <p:spPr>
          <a:xfrm>
            <a:off x="6343650" y="4000500"/>
            <a:ext cx="2676525" cy="0"/>
          </a:xfrm>
          <a:custGeom>
            <a:avLst/>
            <a:gdLst/>
            <a:ahLst/>
            <a:cxnLst/>
            <a:rect l="l" t="t" r="r" b="b"/>
            <a:pathLst>
              <a:path w="281" h="0">
                <a:moveTo>
                  <a:pt x="0" y="0"/>
                </a:moveTo>
                <a:lnTo>
                  <a:pt x="281" y="0"/>
                </a:lnTo>
              </a:path>
            </a:pathLst>
          </a:custGeom>
          <a:noFill/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01-115-poly"/>
          <p:cNvSpPr/>
          <p:nvPr/>
        </p:nvSpPr>
        <p:spPr>
          <a:xfrm>
            <a:off x="8924925" y="3952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01-116-rect"/>
          <p:cNvSpPr/>
          <p:nvPr/>
        </p:nvSpPr>
        <p:spPr>
          <a:xfrm>
            <a:off x="7048500" y="3733800"/>
            <a:ext cx="11049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01-117-text"/>
          <p:cNvSpPr txBox="1"/>
          <p:nvPr/>
        </p:nvSpPr>
        <p:spPr>
          <a:xfrm>
            <a:off x="7086600" y="3752850"/>
            <a:ext cx="1028700" cy="2238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2463C9"/>
                </a:solidFill>
                <a:latin typeface="DejaVu Sans"/>
              </a:defRPr>
            </a:pPr>
            <a:r>
              <a:t>copy u₁₀</a:t>
            </a:r>
          </a:p>
        </p:txBody>
      </p:sp>
      <p:sp>
        <p:nvSpPr>
          <p:cNvPr id="119" name="01-118-rect"/>
          <p:cNvSpPr/>
          <p:nvPr/>
        </p:nvSpPr>
        <p:spPr>
          <a:xfrm>
            <a:off x="4048125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01-119-text"/>
          <p:cNvSpPr txBox="1"/>
          <p:nvPr/>
        </p:nvSpPr>
        <p:spPr>
          <a:xfrm>
            <a:off x="4067175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u₀</a:t>
            </a:r>
          </a:p>
        </p:txBody>
      </p:sp>
      <p:sp>
        <p:nvSpPr>
          <p:cNvPr id="121" name="01-120-rect"/>
          <p:cNvSpPr/>
          <p:nvPr/>
        </p:nvSpPr>
        <p:spPr>
          <a:xfrm>
            <a:off x="4400550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01-121-text"/>
          <p:cNvSpPr txBox="1"/>
          <p:nvPr/>
        </p:nvSpPr>
        <p:spPr>
          <a:xfrm>
            <a:off x="4419600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u₁</a:t>
            </a:r>
          </a:p>
        </p:txBody>
      </p:sp>
      <p:sp>
        <p:nvSpPr>
          <p:cNvPr id="123" name="01-122-rect"/>
          <p:cNvSpPr/>
          <p:nvPr/>
        </p:nvSpPr>
        <p:spPr>
          <a:xfrm>
            <a:off x="4752975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01-123-text"/>
          <p:cNvSpPr txBox="1"/>
          <p:nvPr/>
        </p:nvSpPr>
        <p:spPr>
          <a:xfrm>
            <a:off x="4772025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u₂</a:t>
            </a:r>
          </a:p>
        </p:txBody>
      </p:sp>
      <p:sp>
        <p:nvSpPr>
          <p:cNvPr id="125" name="01-124-rect"/>
          <p:cNvSpPr/>
          <p:nvPr/>
        </p:nvSpPr>
        <p:spPr>
          <a:xfrm>
            <a:off x="5105400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01-125-text"/>
          <p:cNvSpPr txBox="1"/>
          <p:nvPr/>
        </p:nvSpPr>
        <p:spPr>
          <a:xfrm>
            <a:off x="5124450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u₄</a:t>
            </a:r>
          </a:p>
        </p:txBody>
      </p:sp>
      <p:sp>
        <p:nvSpPr>
          <p:cNvPr id="127" name="01-126-rect"/>
          <p:cNvSpPr/>
          <p:nvPr/>
        </p:nvSpPr>
        <p:spPr>
          <a:xfrm>
            <a:off x="5457825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01-127-text"/>
          <p:cNvSpPr txBox="1"/>
          <p:nvPr/>
        </p:nvSpPr>
        <p:spPr>
          <a:xfrm>
            <a:off x="5476875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u₅</a:t>
            </a:r>
          </a:p>
        </p:txBody>
      </p:sp>
      <p:sp>
        <p:nvSpPr>
          <p:cNvPr id="129" name="01-128-rect"/>
          <p:cNvSpPr/>
          <p:nvPr/>
        </p:nvSpPr>
        <p:spPr>
          <a:xfrm>
            <a:off x="5810250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01-129-text"/>
          <p:cNvSpPr txBox="1"/>
          <p:nvPr/>
        </p:nvSpPr>
        <p:spPr>
          <a:xfrm>
            <a:off x="5829300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u₈</a:t>
            </a:r>
          </a:p>
        </p:txBody>
      </p:sp>
      <p:sp>
        <p:nvSpPr>
          <p:cNvPr id="131" name="01-130-rect"/>
          <p:cNvSpPr/>
          <p:nvPr/>
        </p:nvSpPr>
        <p:spPr>
          <a:xfrm>
            <a:off x="6162675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01-131-text"/>
          <p:cNvSpPr txBox="1"/>
          <p:nvPr/>
        </p:nvSpPr>
        <p:spPr>
          <a:xfrm>
            <a:off x="6181725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u₉</a:t>
            </a:r>
          </a:p>
        </p:txBody>
      </p:sp>
      <p:sp>
        <p:nvSpPr>
          <p:cNvPr id="133" name="01-132-rect"/>
          <p:cNvSpPr/>
          <p:nvPr/>
        </p:nvSpPr>
        <p:spPr>
          <a:xfrm>
            <a:off x="6515100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01-133-text"/>
          <p:cNvSpPr txBox="1"/>
          <p:nvPr/>
        </p:nvSpPr>
        <p:spPr>
          <a:xfrm>
            <a:off x="6534150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u₁₀</a:t>
            </a:r>
          </a:p>
        </p:txBody>
      </p:sp>
      <p:sp>
        <p:nvSpPr>
          <p:cNvPr id="135" name="01-134-rect"/>
          <p:cNvSpPr/>
          <p:nvPr/>
        </p:nvSpPr>
        <p:spPr>
          <a:xfrm>
            <a:off x="6867525" y="4467225"/>
            <a:ext cx="323850" cy="409575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01-135-text"/>
          <p:cNvSpPr txBox="1"/>
          <p:nvPr/>
        </p:nvSpPr>
        <p:spPr>
          <a:xfrm>
            <a:off x="6886575" y="4563427"/>
            <a:ext cx="285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531C"/>
                </a:solidFill>
                <a:latin typeface="DejaVu Sans"/>
              </a:defRPr>
            </a:pPr>
            <a:r>
              <a:t>u₆</a:t>
            </a:r>
          </a:p>
        </p:txBody>
      </p:sp>
      <p:sp>
        <p:nvSpPr>
          <p:cNvPr id="137" name="01-136-rect"/>
          <p:cNvSpPr/>
          <p:nvPr/>
        </p:nvSpPr>
        <p:spPr>
          <a:xfrm>
            <a:off x="8286750" y="4467225"/>
            <a:ext cx="46672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01-137-text"/>
          <p:cNvSpPr txBox="1"/>
          <p:nvPr/>
        </p:nvSpPr>
        <p:spPr>
          <a:xfrm>
            <a:off x="8305800" y="4551045"/>
            <a:ext cx="42862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u₃</a:t>
            </a:r>
          </a:p>
        </p:txBody>
      </p:sp>
      <p:sp>
        <p:nvSpPr>
          <p:cNvPr id="139" name="01-138-rect"/>
          <p:cNvSpPr/>
          <p:nvPr/>
        </p:nvSpPr>
        <p:spPr>
          <a:xfrm>
            <a:off x="8782050" y="4467225"/>
            <a:ext cx="46672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01-139-text"/>
          <p:cNvSpPr txBox="1"/>
          <p:nvPr/>
        </p:nvSpPr>
        <p:spPr>
          <a:xfrm>
            <a:off x="8801100" y="4551045"/>
            <a:ext cx="42862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u₆</a:t>
            </a:r>
          </a:p>
        </p:txBody>
      </p:sp>
      <p:sp>
        <p:nvSpPr>
          <p:cNvPr id="141" name="01-140-rect"/>
          <p:cNvSpPr/>
          <p:nvPr/>
        </p:nvSpPr>
        <p:spPr>
          <a:xfrm>
            <a:off x="9277350" y="4467225"/>
            <a:ext cx="46672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01-141-text"/>
          <p:cNvSpPr txBox="1"/>
          <p:nvPr/>
        </p:nvSpPr>
        <p:spPr>
          <a:xfrm>
            <a:off x="9296400" y="4551045"/>
            <a:ext cx="42862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u₇</a:t>
            </a:r>
          </a:p>
        </p:txBody>
      </p:sp>
      <p:sp>
        <p:nvSpPr>
          <p:cNvPr id="143" name="01-142-rect"/>
          <p:cNvSpPr/>
          <p:nvPr/>
        </p:nvSpPr>
        <p:spPr>
          <a:xfrm>
            <a:off x="9772650" y="4467225"/>
            <a:ext cx="46672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01-143-text"/>
          <p:cNvSpPr txBox="1"/>
          <p:nvPr/>
        </p:nvSpPr>
        <p:spPr>
          <a:xfrm>
            <a:off x="9791700" y="4551045"/>
            <a:ext cx="42862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u₁₁</a:t>
            </a:r>
          </a:p>
        </p:txBody>
      </p:sp>
      <p:sp>
        <p:nvSpPr>
          <p:cNvPr id="145" name="01-144-rect"/>
          <p:cNvSpPr/>
          <p:nvPr/>
        </p:nvSpPr>
        <p:spPr>
          <a:xfrm>
            <a:off x="10267950" y="4467225"/>
            <a:ext cx="46672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01-145-text"/>
          <p:cNvSpPr txBox="1"/>
          <p:nvPr/>
        </p:nvSpPr>
        <p:spPr>
          <a:xfrm>
            <a:off x="10287000" y="4551045"/>
            <a:ext cx="42862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63C9"/>
                </a:solidFill>
                <a:latin typeface="DejaVu Sans"/>
              </a:defRPr>
            </a:pPr>
            <a:r>
              <a:t>u₂</a:t>
            </a:r>
          </a:p>
        </p:txBody>
      </p:sp>
      <p:sp>
        <p:nvSpPr>
          <p:cNvPr id="147" name="01-146-rect"/>
          <p:cNvSpPr/>
          <p:nvPr/>
        </p:nvSpPr>
        <p:spPr>
          <a:xfrm>
            <a:off x="10763250" y="4467225"/>
            <a:ext cx="46672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01-147-text"/>
          <p:cNvSpPr txBox="1"/>
          <p:nvPr/>
        </p:nvSpPr>
        <p:spPr>
          <a:xfrm>
            <a:off x="10782300" y="4551045"/>
            <a:ext cx="42862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63C9"/>
                </a:solidFill>
                <a:latin typeface="DejaVu Sans"/>
              </a:defRPr>
            </a:pPr>
            <a:r>
              <a:t>u₁₀</a:t>
            </a:r>
          </a:p>
        </p:txBody>
      </p:sp>
      <p:sp>
        <p:nvSpPr>
          <p:cNvPr id="149" name="01-148-text"/>
          <p:cNvSpPr txBox="1"/>
          <p:nvPr/>
        </p:nvSpPr>
        <p:spPr>
          <a:xfrm>
            <a:off x="4048125" y="5010150"/>
            <a:ext cx="3048000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46477"/>
                </a:solidFill>
                <a:latin typeface="DejaVu Sans"/>
              </a:defRPr>
            </a:pPr>
            <a:r>
              <a:t>[ owned values | ghost copies ]</a:t>
            </a:r>
          </a:p>
        </p:txBody>
      </p:sp>
      <p:sp>
        <p:nvSpPr>
          <p:cNvPr id="150" name="01-149-text"/>
          <p:cNvSpPr txBox="1"/>
          <p:nvPr/>
        </p:nvSpPr>
        <p:spPr>
          <a:xfrm>
            <a:off x="8286750" y="5010150"/>
            <a:ext cx="3095625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46477"/>
                </a:solidFill>
                <a:latin typeface="DejaVu Sans"/>
              </a:defRPr>
            </a:pPr>
            <a:r>
              <a:t>[ owned values | ghost copies ]</a:t>
            </a:r>
          </a:p>
        </p:txBody>
      </p:sp>
      <p:sp>
        <p:nvSpPr>
          <p:cNvPr id="151" name="01-150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01-151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01-152-text"/>
          <p:cNvSpPr txBox="1"/>
          <p:nvPr/>
        </p:nvSpPr>
        <p:spPr>
          <a:xfrm>
            <a:off x="723900" y="58007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Each DoF has one owner. Other ranks keep copies where local work needs them.</a:t>
            </a:r>
          </a:p>
        </p:txBody>
      </p:sp>
      <p:sp>
        <p:nvSpPr>
          <p:cNvPr id="154" name="01-153-text"/>
          <p:cNvSpPr txBox="1"/>
          <p:nvPr/>
        </p:nvSpPr>
        <p:spPr>
          <a:xfrm>
            <a:off x="723900" y="6067425"/>
            <a:ext cx="106680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477"/>
                </a:solidFill>
                <a:latin typeface="DejaVu Sans"/>
              </a:defRPr>
            </a:pPr>
            <a:r>
              <a:t>Ghost DoFs are copied coefficients; ghost cells are additional mesh cells (not shown here).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2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THE QUESTION</a:t>
            </a:r>
          </a:p>
        </p:txBody>
      </p:sp>
      <p:sp>
        <p:nvSpPr>
          <p:cNvPr id="3" name="02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2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How do we preserve this on GPUs with JAX?</a:t>
            </a:r>
          </a:p>
        </p:txBody>
      </p:sp>
      <p:sp>
        <p:nvSpPr>
          <p:cNvPr id="5" name="02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Keep the FEM ownership model. Move repeated numerical work onto the devices.</a:t>
            </a:r>
          </a:p>
        </p:txBody>
      </p:sp>
      <p:sp>
        <p:nvSpPr>
          <p:cNvPr id="6" name="02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2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2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2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2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2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2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2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2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2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2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7" name="02-016-rect"/>
          <p:cNvSpPr/>
          <p:nvPr/>
        </p:nvSpPr>
        <p:spPr>
          <a:xfrm>
            <a:off x="533400" y="1790700"/>
            <a:ext cx="4476750" cy="2152650"/>
          </a:xfrm>
          <a:prstGeom prst="roundRect">
            <a:avLst>
              <a:gd name="adj" fmla="val 4424"/>
            </a:avLst>
          </a:prstGeom>
          <a:solidFill>
            <a:srgbClr val="EFF5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2-017-text"/>
          <p:cNvSpPr txBox="1"/>
          <p:nvPr/>
        </p:nvSpPr>
        <p:spPr>
          <a:xfrm>
            <a:off x="723900" y="1952625"/>
            <a:ext cx="40957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463C9"/>
                </a:solidFill>
                <a:latin typeface="DejaVu Sans"/>
              </a:defRPr>
            </a:pPr>
            <a:r>
              <a:t>MPI rank 0  /  GPU 0</a:t>
            </a:r>
          </a:p>
        </p:txBody>
      </p:sp>
      <p:sp>
        <p:nvSpPr>
          <p:cNvPr id="19" name="02-018-rect"/>
          <p:cNvSpPr/>
          <p:nvPr/>
        </p:nvSpPr>
        <p:spPr>
          <a:xfrm>
            <a:off x="7181850" y="1790700"/>
            <a:ext cx="4476750" cy="2152650"/>
          </a:xfrm>
          <a:prstGeom prst="roundRect">
            <a:avLst>
              <a:gd name="adj" fmla="val 4424"/>
            </a:avLst>
          </a:prstGeom>
          <a:solidFill>
            <a:srgbClr val="FFF3EB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2-019-text"/>
          <p:cNvSpPr txBox="1"/>
          <p:nvPr/>
        </p:nvSpPr>
        <p:spPr>
          <a:xfrm>
            <a:off x="7372350" y="1952625"/>
            <a:ext cx="40957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8531C"/>
                </a:solidFill>
                <a:latin typeface="DejaVu Sans"/>
              </a:defRPr>
            </a:pPr>
            <a:r>
              <a:t>MPI rank 1  /  GPU 1</a:t>
            </a:r>
          </a:p>
        </p:txBody>
      </p:sp>
      <p:sp>
        <p:nvSpPr>
          <p:cNvPr id="21" name="02-020-rect"/>
          <p:cNvSpPr/>
          <p:nvPr/>
        </p:nvSpPr>
        <p:spPr>
          <a:xfrm>
            <a:off x="80962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2-021-text"/>
          <p:cNvSpPr txBox="1"/>
          <p:nvPr/>
        </p:nvSpPr>
        <p:spPr>
          <a:xfrm>
            <a:off x="82867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u₀</a:t>
            </a:r>
          </a:p>
        </p:txBody>
      </p:sp>
      <p:sp>
        <p:nvSpPr>
          <p:cNvPr id="23" name="02-022-rect"/>
          <p:cNvSpPr/>
          <p:nvPr/>
        </p:nvSpPr>
        <p:spPr>
          <a:xfrm>
            <a:off x="124777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2-023-text"/>
          <p:cNvSpPr txBox="1"/>
          <p:nvPr/>
        </p:nvSpPr>
        <p:spPr>
          <a:xfrm>
            <a:off x="126682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u₁</a:t>
            </a:r>
          </a:p>
        </p:txBody>
      </p:sp>
      <p:sp>
        <p:nvSpPr>
          <p:cNvPr id="25" name="02-024-rect"/>
          <p:cNvSpPr/>
          <p:nvPr/>
        </p:nvSpPr>
        <p:spPr>
          <a:xfrm>
            <a:off x="168592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2-025-text"/>
          <p:cNvSpPr txBox="1"/>
          <p:nvPr/>
        </p:nvSpPr>
        <p:spPr>
          <a:xfrm>
            <a:off x="170497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u₂</a:t>
            </a:r>
          </a:p>
        </p:txBody>
      </p:sp>
      <p:sp>
        <p:nvSpPr>
          <p:cNvPr id="27" name="02-026-rect"/>
          <p:cNvSpPr/>
          <p:nvPr/>
        </p:nvSpPr>
        <p:spPr>
          <a:xfrm>
            <a:off x="212407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2-027-text"/>
          <p:cNvSpPr txBox="1"/>
          <p:nvPr/>
        </p:nvSpPr>
        <p:spPr>
          <a:xfrm>
            <a:off x="214312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u₄</a:t>
            </a:r>
          </a:p>
        </p:txBody>
      </p:sp>
      <p:sp>
        <p:nvSpPr>
          <p:cNvPr id="29" name="02-028-rect"/>
          <p:cNvSpPr/>
          <p:nvPr/>
        </p:nvSpPr>
        <p:spPr>
          <a:xfrm>
            <a:off x="256222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02-029-text"/>
          <p:cNvSpPr txBox="1"/>
          <p:nvPr/>
        </p:nvSpPr>
        <p:spPr>
          <a:xfrm>
            <a:off x="258127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u₅</a:t>
            </a:r>
          </a:p>
        </p:txBody>
      </p:sp>
      <p:sp>
        <p:nvSpPr>
          <p:cNvPr id="31" name="02-030-rect"/>
          <p:cNvSpPr/>
          <p:nvPr/>
        </p:nvSpPr>
        <p:spPr>
          <a:xfrm>
            <a:off x="300037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2-031-text"/>
          <p:cNvSpPr txBox="1"/>
          <p:nvPr/>
        </p:nvSpPr>
        <p:spPr>
          <a:xfrm>
            <a:off x="301942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u₈</a:t>
            </a:r>
          </a:p>
        </p:txBody>
      </p:sp>
      <p:sp>
        <p:nvSpPr>
          <p:cNvPr id="33" name="02-032-rect"/>
          <p:cNvSpPr/>
          <p:nvPr/>
        </p:nvSpPr>
        <p:spPr>
          <a:xfrm>
            <a:off x="343852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2-033-text"/>
          <p:cNvSpPr txBox="1"/>
          <p:nvPr/>
        </p:nvSpPr>
        <p:spPr>
          <a:xfrm>
            <a:off x="345757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u₉</a:t>
            </a:r>
          </a:p>
        </p:txBody>
      </p:sp>
      <p:sp>
        <p:nvSpPr>
          <p:cNvPr id="35" name="02-034-rect"/>
          <p:cNvSpPr/>
          <p:nvPr/>
        </p:nvSpPr>
        <p:spPr>
          <a:xfrm>
            <a:off x="387667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02-035-text"/>
          <p:cNvSpPr txBox="1"/>
          <p:nvPr/>
        </p:nvSpPr>
        <p:spPr>
          <a:xfrm>
            <a:off x="389572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DejaVu Sans"/>
              </a:defRPr>
            </a:pPr>
            <a:r>
              <a:t>u₁₀</a:t>
            </a:r>
          </a:p>
        </p:txBody>
      </p:sp>
      <p:sp>
        <p:nvSpPr>
          <p:cNvPr id="37" name="02-036-rect"/>
          <p:cNvSpPr/>
          <p:nvPr/>
        </p:nvSpPr>
        <p:spPr>
          <a:xfrm>
            <a:off x="4314825" y="2571750"/>
            <a:ext cx="40957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2-037-text"/>
          <p:cNvSpPr txBox="1"/>
          <p:nvPr/>
        </p:nvSpPr>
        <p:spPr>
          <a:xfrm>
            <a:off x="4333875" y="2649378"/>
            <a:ext cx="37147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C8531C"/>
                </a:solidFill>
                <a:latin typeface="DejaVu Sans"/>
              </a:defRPr>
            </a:pPr>
            <a:r>
              <a:t>u₆</a:t>
            </a:r>
          </a:p>
        </p:txBody>
      </p:sp>
      <p:sp>
        <p:nvSpPr>
          <p:cNvPr id="39" name="02-038-rect"/>
          <p:cNvSpPr/>
          <p:nvPr/>
        </p:nvSpPr>
        <p:spPr>
          <a:xfrm>
            <a:off x="7658100" y="257175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2-039-text"/>
          <p:cNvSpPr txBox="1"/>
          <p:nvPr/>
        </p:nvSpPr>
        <p:spPr>
          <a:xfrm>
            <a:off x="7677150" y="2643187"/>
            <a:ext cx="523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u₃</a:t>
            </a:r>
          </a:p>
        </p:txBody>
      </p:sp>
      <p:sp>
        <p:nvSpPr>
          <p:cNvPr id="41" name="02-040-rect"/>
          <p:cNvSpPr/>
          <p:nvPr/>
        </p:nvSpPr>
        <p:spPr>
          <a:xfrm>
            <a:off x="8248650" y="257175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02-041-text"/>
          <p:cNvSpPr txBox="1"/>
          <p:nvPr/>
        </p:nvSpPr>
        <p:spPr>
          <a:xfrm>
            <a:off x="8267700" y="2643187"/>
            <a:ext cx="523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u₆</a:t>
            </a:r>
          </a:p>
        </p:txBody>
      </p:sp>
      <p:sp>
        <p:nvSpPr>
          <p:cNvPr id="43" name="02-042-rect"/>
          <p:cNvSpPr/>
          <p:nvPr/>
        </p:nvSpPr>
        <p:spPr>
          <a:xfrm>
            <a:off x="8839200" y="257175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02-043-text"/>
          <p:cNvSpPr txBox="1"/>
          <p:nvPr/>
        </p:nvSpPr>
        <p:spPr>
          <a:xfrm>
            <a:off x="8858250" y="2643187"/>
            <a:ext cx="523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u₇</a:t>
            </a:r>
          </a:p>
        </p:txBody>
      </p:sp>
      <p:sp>
        <p:nvSpPr>
          <p:cNvPr id="45" name="02-044-rect"/>
          <p:cNvSpPr/>
          <p:nvPr/>
        </p:nvSpPr>
        <p:spPr>
          <a:xfrm>
            <a:off x="9429750" y="257175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02-045-text"/>
          <p:cNvSpPr txBox="1"/>
          <p:nvPr/>
        </p:nvSpPr>
        <p:spPr>
          <a:xfrm>
            <a:off x="9448800" y="2643187"/>
            <a:ext cx="523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u₁₁</a:t>
            </a:r>
          </a:p>
        </p:txBody>
      </p:sp>
      <p:sp>
        <p:nvSpPr>
          <p:cNvPr id="47" name="02-046-rect"/>
          <p:cNvSpPr/>
          <p:nvPr/>
        </p:nvSpPr>
        <p:spPr>
          <a:xfrm>
            <a:off x="10020300" y="257175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2-047-text"/>
          <p:cNvSpPr txBox="1"/>
          <p:nvPr/>
        </p:nvSpPr>
        <p:spPr>
          <a:xfrm>
            <a:off x="10039350" y="2643187"/>
            <a:ext cx="523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463C9"/>
                </a:solidFill>
                <a:latin typeface="DejaVu Sans"/>
              </a:defRPr>
            </a:pPr>
            <a:r>
              <a:t>u₂</a:t>
            </a:r>
          </a:p>
        </p:txBody>
      </p:sp>
      <p:sp>
        <p:nvSpPr>
          <p:cNvPr id="49" name="02-048-rect"/>
          <p:cNvSpPr/>
          <p:nvPr/>
        </p:nvSpPr>
        <p:spPr>
          <a:xfrm>
            <a:off x="10610850" y="257175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02-049-text"/>
          <p:cNvSpPr txBox="1"/>
          <p:nvPr/>
        </p:nvSpPr>
        <p:spPr>
          <a:xfrm>
            <a:off x="10629900" y="2643187"/>
            <a:ext cx="523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463C9"/>
                </a:solidFill>
                <a:latin typeface="DejaVu Sans"/>
              </a:defRPr>
            </a:pPr>
            <a:r>
              <a:t>u₁₀</a:t>
            </a:r>
          </a:p>
        </p:txBody>
      </p:sp>
      <p:sp>
        <p:nvSpPr>
          <p:cNvPr id="51" name="02-050-text"/>
          <p:cNvSpPr txBox="1"/>
          <p:nvPr/>
        </p:nvSpPr>
        <p:spPr>
          <a:xfrm>
            <a:off x="809625" y="3333750"/>
            <a:ext cx="39243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463C9"/>
                </a:solidFill>
                <a:latin typeface="DejaVu Sans"/>
              </a:defRPr>
            </a:pPr>
            <a:r>
              <a:t>9 local entries • JAX device array</a:t>
            </a:r>
          </a:p>
        </p:txBody>
      </p:sp>
      <p:sp>
        <p:nvSpPr>
          <p:cNvPr id="52" name="02-051-text"/>
          <p:cNvSpPr txBox="1"/>
          <p:nvPr/>
        </p:nvSpPr>
        <p:spPr>
          <a:xfrm>
            <a:off x="7658100" y="3333750"/>
            <a:ext cx="366712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C8531C"/>
                </a:solidFill>
                <a:latin typeface="DejaVu Sans"/>
              </a:defRPr>
            </a:pPr>
            <a:r>
              <a:t>6 local entries • JAX device array</a:t>
            </a:r>
          </a:p>
        </p:txBody>
      </p:sp>
      <p:sp>
        <p:nvSpPr>
          <p:cNvPr id="53" name="02-052-line"/>
          <p:cNvSpPr/>
          <p:nvPr/>
        </p:nvSpPr>
        <p:spPr>
          <a:xfrm>
            <a:off x="5143500" y="2733675"/>
            <a:ext cx="1895475" cy="0"/>
          </a:xfrm>
          <a:custGeom>
            <a:avLst/>
            <a:gdLst/>
            <a:ahLst/>
            <a:cxnLst/>
            <a:rect l="l" t="t" r="r" b="b"/>
            <a:pathLst>
              <a:path w="199" h="0">
                <a:moveTo>
                  <a:pt x="0" y="0"/>
                </a:moveTo>
                <a:lnTo>
                  <a:pt x="199" y="0"/>
                </a:lnTo>
              </a:path>
            </a:pathLst>
          </a:custGeom>
          <a:noFill/>
          <a:ln w="2857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02-053-poly"/>
          <p:cNvSpPr/>
          <p:nvPr/>
        </p:nvSpPr>
        <p:spPr>
          <a:xfrm>
            <a:off x="6943725" y="26860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02-054-line"/>
          <p:cNvSpPr/>
          <p:nvPr/>
        </p:nvSpPr>
        <p:spPr>
          <a:xfrm>
            <a:off x="5143500" y="3257550"/>
            <a:ext cx="1895475" cy="0"/>
          </a:xfrm>
          <a:custGeom>
            <a:avLst/>
            <a:gdLst/>
            <a:ahLst/>
            <a:cxnLst/>
            <a:rect l="l" t="t" r="r" b="b"/>
            <a:pathLst>
              <a:path w="199" h="0">
                <a:moveTo>
                  <a:pt x="199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02-055-poly"/>
          <p:cNvSpPr/>
          <p:nvPr/>
        </p:nvSpPr>
        <p:spPr>
          <a:xfrm>
            <a:off x="5143500" y="32099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C85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2-056-ellipse"/>
          <p:cNvSpPr/>
          <p:nvPr/>
        </p:nvSpPr>
        <p:spPr>
          <a:xfrm>
            <a:off x="5810250" y="213360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02-057-text"/>
          <p:cNvSpPr txBox="1"/>
          <p:nvPr/>
        </p:nvSpPr>
        <p:spPr>
          <a:xfrm>
            <a:off x="5819775" y="2181225"/>
            <a:ext cx="552450" cy="6943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975" b="1">
                <a:solidFill>
                  <a:srgbClr val="172638"/>
                </a:solidFill>
                <a:latin typeface="DejaVu Sans"/>
              </a:defRPr>
            </a:pPr>
            <a:r>
              <a:t>?</a:t>
            </a:r>
          </a:p>
        </p:txBody>
      </p:sp>
      <p:sp>
        <p:nvSpPr>
          <p:cNvPr id="59" name="02-058-rect"/>
          <p:cNvSpPr/>
          <p:nvPr/>
        </p:nvSpPr>
        <p:spPr>
          <a:xfrm>
            <a:off x="533400" y="4295775"/>
            <a:ext cx="3495675" cy="1171575"/>
          </a:xfrm>
          <a:prstGeom prst="roundRect">
            <a:avLst>
              <a:gd name="adj" fmla="val 8130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02-059-text"/>
          <p:cNvSpPr txBox="1"/>
          <p:nvPr/>
        </p:nvSpPr>
        <p:spPr>
          <a:xfrm>
            <a:off x="723900" y="4457700"/>
            <a:ext cx="3114675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Preserve ownership</a:t>
            </a:r>
          </a:p>
        </p:txBody>
      </p:sp>
      <p:sp>
        <p:nvSpPr>
          <p:cNvPr id="61" name="02-060-text"/>
          <p:cNvSpPr txBox="1"/>
          <p:nvPr/>
        </p:nvSpPr>
        <p:spPr>
          <a:xfrm>
            <a:off x="723900" y="4810125"/>
            <a:ext cx="311467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Reuse DOLFINx’s owner/ghost map.</a:t>
            </a:r>
          </a:p>
        </p:txBody>
      </p:sp>
      <p:sp>
        <p:nvSpPr>
          <p:cNvPr id="62" name="02-061-rect"/>
          <p:cNvSpPr/>
          <p:nvPr/>
        </p:nvSpPr>
        <p:spPr>
          <a:xfrm>
            <a:off x="4343400" y="4295775"/>
            <a:ext cx="3495675" cy="1171575"/>
          </a:xfrm>
          <a:prstGeom prst="roundRect">
            <a:avLst>
              <a:gd name="adj" fmla="val 8130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2-062-text"/>
          <p:cNvSpPr txBox="1"/>
          <p:nvPr/>
        </p:nvSpPr>
        <p:spPr>
          <a:xfrm>
            <a:off x="4533900" y="4457700"/>
            <a:ext cx="3114675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Communicate inside JIT</a:t>
            </a:r>
          </a:p>
        </p:txBody>
      </p:sp>
      <p:sp>
        <p:nvSpPr>
          <p:cNvPr id="64" name="02-063-text"/>
          <p:cNvSpPr txBox="1"/>
          <p:nvPr/>
        </p:nvSpPr>
        <p:spPr>
          <a:xfrm>
            <a:off x="4533900" y="4810125"/>
            <a:ext cx="311467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Refresh ghosts between GPU steps.</a:t>
            </a:r>
          </a:p>
        </p:txBody>
      </p:sp>
      <p:sp>
        <p:nvSpPr>
          <p:cNvPr id="65" name="02-064-rect"/>
          <p:cNvSpPr/>
          <p:nvPr/>
        </p:nvSpPr>
        <p:spPr>
          <a:xfrm>
            <a:off x="8162925" y="4295775"/>
            <a:ext cx="3495675" cy="1171575"/>
          </a:xfrm>
          <a:prstGeom prst="roundRect">
            <a:avLst>
              <a:gd name="adj" fmla="val 8130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02-065-text"/>
          <p:cNvSpPr txBox="1"/>
          <p:nvPr/>
        </p:nvSpPr>
        <p:spPr>
          <a:xfrm>
            <a:off x="8353425" y="4457700"/>
            <a:ext cx="3114675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Handle unequal sizes</a:t>
            </a:r>
          </a:p>
        </p:txBody>
      </p:sp>
      <p:sp>
        <p:nvSpPr>
          <p:cNvPr id="67" name="02-066-text"/>
          <p:cNvSpPr txBox="1"/>
          <p:nvPr/>
        </p:nvSpPr>
        <p:spPr>
          <a:xfrm>
            <a:off x="8353425" y="4810125"/>
            <a:ext cx="311467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Partitions need different storage.</a:t>
            </a:r>
          </a:p>
        </p:txBody>
      </p:sp>
      <p:sp>
        <p:nvSpPr>
          <p:cNvPr id="68" name="02-067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02-068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02-069-text"/>
          <p:cNvSpPr txBox="1"/>
          <p:nvPr/>
        </p:nvSpPr>
        <p:spPr>
          <a:xfrm>
            <a:off x="723900" y="58769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How do remote owner values reach the right local ghost slots?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3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WHY GHOSTS APPEAR</a:t>
            </a:r>
          </a:p>
        </p:txBody>
      </p:sp>
      <p:sp>
        <p:nvSpPr>
          <p:cNvPr id="3" name="03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3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A local matrix row needs a remote vector value</a:t>
            </a:r>
          </a:p>
        </p:txBody>
      </p:sp>
      <p:sp>
        <p:nvSpPr>
          <p:cNvPr id="5" name="03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A four-DoF algebraic toy • row partitioning • zero-based indices • start with y = 0</a:t>
            </a:r>
          </a:p>
        </p:txBody>
      </p:sp>
      <p:sp>
        <p:nvSpPr>
          <p:cNvPr id="6" name="03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3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3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3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3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3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3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3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3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3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3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7" name="03-016-text"/>
          <p:cNvSpPr txBox="1"/>
          <p:nvPr/>
        </p:nvSpPr>
        <p:spPr>
          <a:xfrm>
            <a:off x="619125" y="1743075"/>
            <a:ext cx="495300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46477"/>
                </a:solidFill>
                <a:latin typeface="DejaVu Sans"/>
              </a:defRPr>
            </a:pPr>
            <a:r>
              <a:t>1   SPLIT THE MATRIX BY OWNED ROWS</a:t>
            </a:r>
          </a:p>
        </p:txBody>
      </p:sp>
      <p:sp>
        <p:nvSpPr>
          <p:cNvPr id="18" name="03-017-rect"/>
          <p:cNvSpPr/>
          <p:nvPr/>
        </p:nvSpPr>
        <p:spPr>
          <a:xfrm>
            <a:off x="1038225" y="2247900"/>
            <a:ext cx="2305050" cy="466725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03-018-text"/>
          <p:cNvSpPr txBox="1"/>
          <p:nvPr/>
        </p:nvSpPr>
        <p:spPr>
          <a:xfrm>
            <a:off x="609600" y="2352675"/>
            <a:ext cx="352425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463C9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20" name="03-019-text"/>
          <p:cNvSpPr txBox="1"/>
          <p:nvPr/>
        </p:nvSpPr>
        <p:spPr>
          <a:xfrm>
            <a:off x="1085850" y="23241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1" name="03-020-text"/>
          <p:cNvSpPr txBox="1"/>
          <p:nvPr/>
        </p:nvSpPr>
        <p:spPr>
          <a:xfrm>
            <a:off x="1647825" y="23241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−1</a:t>
            </a:r>
          </a:p>
        </p:txBody>
      </p:sp>
      <p:sp>
        <p:nvSpPr>
          <p:cNvPr id="22" name="03-021-text"/>
          <p:cNvSpPr txBox="1"/>
          <p:nvPr/>
        </p:nvSpPr>
        <p:spPr>
          <a:xfrm>
            <a:off x="2209800" y="23241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A5AFBC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23" name="03-022-text"/>
          <p:cNvSpPr txBox="1"/>
          <p:nvPr/>
        </p:nvSpPr>
        <p:spPr>
          <a:xfrm>
            <a:off x="2771775" y="23241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A5AFBC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24" name="03-023-rect"/>
          <p:cNvSpPr/>
          <p:nvPr/>
        </p:nvSpPr>
        <p:spPr>
          <a:xfrm>
            <a:off x="1038225" y="2743200"/>
            <a:ext cx="2305050" cy="466725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3-024-text"/>
          <p:cNvSpPr txBox="1"/>
          <p:nvPr/>
        </p:nvSpPr>
        <p:spPr>
          <a:xfrm>
            <a:off x="609600" y="2847975"/>
            <a:ext cx="352425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463C9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6" name="03-025-text"/>
          <p:cNvSpPr txBox="1"/>
          <p:nvPr/>
        </p:nvSpPr>
        <p:spPr>
          <a:xfrm>
            <a:off x="1085850" y="28194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−1</a:t>
            </a:r>
          </a:p>
        </p:txBody>
      </p:sp>
      <p:sp>
        <p:nvSpPr>
          <p:cNvPr id="27" name="03-026-text"/>
          <p:cNvSpPr txBox="1"/>
          <p:nvPr/>
        </p:nvSpPr>
        <p:spPr>
          <a:xfrm>
            <a:off x="1647825" y="28194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8" name="03-027-rect"/>
          <p:cNvSpPr/>
          <p:nvPr/>
        </p:nvSpPr>
        <p:spPr>
          <a:xfrm>
            <a:off x="2209800" y="2771775"/>
            <a:ext cx="495300" cy="409575"/>
          </a:xfrm>
          <a:prstGeom prst="rect">
            <a:avLst/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03-028-text"/>
          <p:cNvSpPr txBox="1"/>
          <p:nvPr/>
        </p:nvSpPr>
        <p:spPr>
          <a:xfrm>
            <a:off x="2209800" y="28194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2638"/>
                </a:solidFill>
                <a:latin typeface="DejaVu Sans"/>
              </a:defRPr>
            </a:pPr>
            <a:r>
              <a:t>−1</a:t>
            </a:r>
          </a:p>
        </p:txBody>
      </p:sp>
      <p:sp>
        <p:nvSpPr>
          <p:cNvPr id="30" name="03-029-text"/>
          <p:cNvSpPr txBox="1"/>
          <p:nvPr/>
        </p:nvSpPr>
        <p:spPr>
          <a:xfrm>
            <a:off x="2771775" y="28194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A5AFBC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31" name="03-030-rect"/>
          <p:cNvSpPr/>
          <p:nvPr/>
        </p:nvSpPr>
        <p:spPr>
          <a:xfrm>
            <a:off x="1038225" y="3238500"/>
            <a:ext cx="2305050" cy="466725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3-031-text"/>
          <p:cNvSpPr txBox="1"/>
          <p:nvPr/>
        </p:nvSpPr>
        <p:spPr>
          <a:xfrm>
            <a:off x="609600" y="3343275"/>
            <a:ext cx="352425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531C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33" name="03-032-text"/>
          <p:cNvSpPr txBox="1"/>
          <p:nvPr/>
        </p:nvSpPr>
        <p:spPr>
          <a:xfrm>
            <a:off x="1085850" y="33147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A5AFBC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34" name="03-033-rect"/>
          <p:cNvSpPr/>
          <p:nvPr/>
        </p:nvSpPr>
        <p:spPr>
          <a:xfrm>
            <a:off x="1647825" y="3267075"/>
            <a:ext cx="495300" cy="409575"/>
          </a:xfrm>
          <a:prstGeom prst="rect">
            <a:avLst/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3-034-text"/>
          <p:cNvSpPr txBox="1"/>
          <p:nvPr/>
        </p:nvSpPr>
        <p:spPr>
          <a:xfrm>
            <a:off x="1647825" y="33147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2638"/>
                </a:solidFill>
                <a:latin typeface="DejaVu Sans"/>
              </a:defRPr>
            </a:pPr>
            <a:r>
              <a:t>−1</a:t>
            </a:r>
          </a:p>
        </p:txBody>
      </p:sp>
      <p:sp>
        <p:nvSpPr>
          <p:cNvPr id="36" name="03-035-text"/>
          <p:cNvSpPr txBox="1"/>
          <p:nvPr/>
        </p:nvSpPr>
        <p:spPr>
          <a:xfrm>
            <a:off x="2209800" y="33147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37" name="03-036-text"/>
          <p:cNvSpPr txBox="1"/>
          <p:nvPr/>
        </p:nvSpPr>
        <p:spPr>
          <a:xfrm>
            <a:off x="2771775" y="33147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−1</a:t>
            </a:r>
          </a:p>
        </p:txBody>
      </p:sp>
      <p:sp>
        <p:nvSpPr>
          <p:cNvPr id="38" name="03-037-rect"/>
          <p:cNvSpPr/>
          <p:nvPr/>
        </p:nvSpPr>
        <p:spPr>
          <a:xfrm>
            <a:off x="1038225" y="3733800"/>
            <a:ext cx="2305050" cy="466725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3-038-text"/>
          <p:cNvSpPr txBox="1"/>
          <p:nvPr/>
        </p:nvSpPr>
        <p:spPr>
          <a:xfrm>
            <a:off x="609600" y="3838575"/>
            <a:ext cx="352425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531C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40" name="03-039-text"/>
          <p:cNvSpPr txBox="1"/>
          <p:nvPr/>
        </p:nvSpPr>
        <p:spPr>
          <a:xfrm>
            <a:off x="1085850" y="38100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A5AFBC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41" name="03-040-text"/>
          <p:cNvSpPr txBox="1"/>
          <p:nvPr/>
        </p:nvSpPr>
        <p:spPr>
          <a:xfrm>
            <a:off x="1647825" y="38100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A5AFBC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42" name="03-041-text"/>
          <p:cNvSpPr txBox="1"/>
          <p:nvPr/>
        </p:nvSpPr>
        <p:spPr>
          <a:xfrm>
            <a:off x="2209800" y="38100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−1</a:t>
            </a:r>
          </a:p>
        </p:txBody>
      </p:sp>
      <p:sp>
        <p:nvSpPr>
          <p:cNvPr id="43" name="03-042-text"/>
          <p:cNvSpPr txBox="1"/>
          <p:nvPr/>
        </p:nvSpPr>
        <p:spPr>
          <a:xfrm>
            <a:off x="2771775" y="3810000"/>
            <a:ext cx="4953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44" name="03-043-line"/>
          <p:cNvSpPr/>
          <p:nvPr/>
        </p:nvSpPr>
        <p:spPr>
          <a:xfrm>
            <a:off x="962025" y="2228850"/>
            <a:ext cx="0" cy="2000250"/>
          </a:xfrm>
          <a:custGeom>
            <a:avLst/>
            <a:gdLst/>
            <a:ahLst/>
            <a:cxnLst/>
            <a:rect l="l" t="t" r="r" b="b"/>
            <a:pathLst>
              <a:path w="0" h="210">
                <a:moveTo>
                  <a:pt x="0" y="0"/>
                </a:moveTo>
                <a:lnTo>
                  <a:pt x="0" y="210"/>
                </a:lnTo>
              </a:path>
            </a:pathLst>
          </a:custGeom>
          <a:noFill/>
          <a:ln w="19050">
            <a:solidFill>
              <a:srgbClr val="1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3-044-line"/>
          <p:cNvSpPr/>
          <p:nvPr/>
        </p:nvSpPr>
        <p:spPr>
          <a:xfrm>
            <a:off x="962025" y="2228850"/>
            <a:ext cx="66675" cy="0"/>
          </a:xfrm>
          <a:custGeom>
            <a:avLst/>
            <a:gdLst/>
            <a:ahLst/>
            <a:cxnLst/>
            <a:rect l="l" t="t" r="r" b="b"/>
            <a:pathLst>
              <a:path w="7" h="0">
                <a:moveTo>
                  <a:pt x="0" y="0"/>
                </a:moveTo>
                <a:lnTo>
                  <a:pt x="7" y="0"/>
                </a:lnTo>
              </a:path>
            </a:pathLst>
          </a:custGeom>
          <a:noFill/>
          <a:ln w="19050">
            <a:solidFill>
              <a:srgbClr val="1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03-045-line"/>
          <p:cNvSpPr/>
          <p:nvPr/>
        </p:nvSpPr>
        <p:spPr>
          <a:xfrm>
            <a:off x="962025" y="4229100"/>
            <a:ext cx="66675" cy="0"/>
          </a:xfrm>
          <a:custGeom>
            <a:avLst/>
            <a:gdLst/>
            <a:ahLst/>
            <a:cxnLst/>
            <a:rect l="l" t="t" r="r" b="b"/>
            <a:pathLst>
              <a:path w="7" h="0">
                <a:moveTo>
                  <a:pt x="0" y="0"/>
                </a:moveTo>
                <a:lnTo>
                  <a:pt x="7" y="0"/>
                </a:lnTo>
              </a:path>
            </a:pathLst>
          </a:custGeom>
          <a:noFill/>
          <a:ln w="19050">
            <a:solidFill>
              <a:srgbClr val="1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3-046-line"/>
          <p:cNvSpPr/>
          <p:nvPr/>
        </p:nvSpPr>
        <p:spPr>
          <a:xfrm>
            <a:off x="3400425" y="2228850"/>
            <a:ext cx="0" cy="2000250"/>
          </a:xfrm>
          <a:custGeom>
            <a:avLst/>
            <a:gdLst/>
            <a:ahLst/>
            <a:cxnLst/>
            <a:rect l="l" t="t" r="r" b="b"/>
            <a:pathLst>
              <a:path w="0" h="210">
                <a:moveTo>
                  <a:pt x="0" y="0"/>
                </a:moveTo>
                <a:lnTo>
                  <a:pt x="0" y="210"/>
                </a:lnTo>
              </a:path>
            </a:pathLst>
          </a:custGeom>
          <a:noFill/>
          <a:ln w="19050">
            <a:solidFill>
              <a:srgbClr val="1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3-047-line"/>
          <p:cNvSpPr/>
          <p:nvPr/>
        </p:nvSpPr>
        <p:spPr>
          <a:xfrm>
            <a:off x="3333750" y="2228850"/>
            <a:ext cx="66675" cy="0"/>
          </a:xfrm>
          <a:custGeom>
            <a:avLst/>
            <a:gdLst/>
            <a:ahLst/>
            <a:cxnLst/>
            <a:rect l="l" t="t" r="r" b="b"/>
            <a:pathLst>
              <a:path w="7" h="0">
                <a:moveTo>
                  <a:pt x="7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03-048-line"/>
          <p:cNvSpPr/>
          <p:nvPr/>
        </p:nvSpPr>
        <p:spPr>
          <a:xfrm>
            <a:off x="3333750" y="4229100"/>
            <a:ext cx="66675" cy="0"/>
          </a:xfrm>
          <a:custGeom>
            <a:avLst/>
            <a:gdLst/>
            <a:ahLst/>
            <a:cxnLst/>
            <a:rect l="l" t="t" r="r" b="b"/>
            <a:pathLst>
              <a:path w="7" h="0">
                <a:moveTo>
                  <a:pt x="7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7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03-049-text"/>
          <p:cNvSpPr txBox="1"/>
          <p:nvPr/>
        </p:nvSpPr>
        <p:spPr>
          <a:xfrm>
            <a:off x="1190625" y="1924050"/>
            <a:ext cx="2152650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72638"/>
                </a:solidFill>
                <a:latin typeface="DejaVu Sans"/>
              </a:defRPr>
            </a:pPr>
            <a:r>
              <a:t>A</a:t>
            </a:r>
          </a:p>
        </p:txBody>
      </p:sp>
      <p:sp>
        <p:nvSpPr>
          <p:cNvPr id="51" name="03-050-text"/>
          <p:cNvSpPr txBox="1"/>
          <p:nvPr/>
        </p:nvSpPr>
        <p:spPr>
          <a:xfrm>
            <a:off x="3619500" y="3000375"/>
            <a:ext cx="381000" cy="434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46477"/>
                </a:solidFill>
                <a:latin typeface="DejaVu Sans"/>
              </a:defRPr>
            </a:pPr>
            <a:r>
              <a:t>×</a:t>
            </a:r>
          </a:p>
        </p:txBody>
      </p:sp>
      <p:sp>
        <p:nvSpPr>
          <p:cNvPr id="52" name="03-051-rect"/>
          <p:cNvSpPr/>
          <p:nvPr/>
        </p:nvSpPr>
        <p:spPr>
          <a:xfrm>
            <a:off x="4105275" y="2276475"/>
            <a:ext cx="457200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03-052-text"/>
          <p:cNvSpPr txBox="1"/>
          <p:nvPr/>
        </p:nvSpPr>
        <p:spPr>
          <a:xfrm>
            <a:off x="4124325" y="2316956"/>
            <a:ext cx="4191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54" name="03-053-rect"/>
          <p:cNvSpPr/>
          <p:nvPr/>
        </p:nvSpPr>
        <p:spPr>
          <a:xfrm>
            <a:off x="4105275" y="2771775"/>
            <a:ext cx="457200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03-054-text"/>
          <p:cNvSpPr txBox="1"/>
          <p:nvPr/>
        </p:nvSpPr>
        <p:spPr>
          <a:xfrm>
            <a:off x="4124325" y="2812256"/>
            <a:ext cx="4191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56" name="03-055-rect"/>
          <p:cNvSpPr/>
          <p:nvPr/>
        </p:nvSpPr>
        <p:spPr>
          <a:xfrm>
            <a:off x="4105275" y="3267075"/>
            <a:ext cx="457200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3-056-text"/>
          <p:cNvSpPr txBox="1"/>
          <p:nvPr/>
        </p:nvSpPr>
        <p:spPr>
          <a:xfrm>
            <a:off x="4124325" y="3307556"/>
            <a:ext cx="4191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58" name="03-057-rect"/>
          <p:cNvSpPr/>
          <p:nvPr/>
        </p:nvSpPr>
        <p:spPr>
          <a:xfrm>
            <a:off x="4105275" y="3762375"/>
            <a:ext cx="457200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03-058-text"/>
          <p:cNvSpPr txBox="1"/>
          <p:nvPr/>
        </p:nvSpPr>
        <p:spPr>
          <a:xfrm>
            <a:off x="4124325" y="3802856"/>
            <a:ext cx="4191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60" name="03-059-text"/>
          <p:cNvSpPr txBox="1"/>
          <p:nvPr/>
        </p:nvSpPr>
        <p:spPr>
          <a:xfrm>
            <a:off x="4114800" y="1924050"/>
            <a:ext cx="457200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72638"/>
                </a:solidFill>
                <a:latin typeface="DejaVu Sans"/>
              </a:defRPr>
            </a:pPr>
            <a:r>
              <a:t>x</a:t>
            </a:r>
          </a:p>
        </p:txBody>
      </p:sp>
      <p:sp>
        <p:nvSpPr>
          <p:cNvPr id="61" name="03-060-text"/>
          <p:cNvSpPr txBox="1"/>
          <p:nvPr/>
        </p:nvSpPr>
        <p:spPr>
          <a:xfrm>
            <a:off x="4791075" y="3000375"/>
            <a:ext cx="3238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546477"/>
                </a:solidFill>
                <a:latin typeface="DejaVu Sans"/>
              </a:defRPr>
            </a:pPr>
            <a:r>
              <a:t>=</a:t>
            </a:r>
          </a:p>
        </p:txBody>
      </p:sp>
      <p:sp>
        <p:nvSpPr>
          <p:cNvPr id="62" name="03-061-text"/>
          <p:cNvSpPr txBox="1"/>
          <p:nvPr/>
        </p:nvSpPr>
        <p:spPr>
          <a:xfrm>
            <a:off x="5200650" y="2324100"/>
            <a:ext cx="6191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463C9"/>
                </a:solidFill>
                <a:latin typeface="DejaVu Sans"/>
              </a:defRPr>
            </a:pPr>
            <a:r>
              <a:t>0</a:t>
            </a:r>
          </a:p>
        </p:txBody>
      </p:sp>
      <p:sp>
        <p:nvSpPr>
          <p:cNvPr id="63" name="03-062-text"/>
          <p:cNvSpPr txBox="1"/>
          <p:nvPr/>
        </p:nvSpPr>
        <p:spPr>
          <a:xfrm>
            <a:off x="5200650" y="2819400"/>
            <a:ext cx="6191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463C9"/>
                </a:solidFill>
                <a:latin typeface="DejaVu Sans"/>
              </a:defRPr>
            </a:pPr>
            <a:r>
              <a:t>−1</a:t>
            </a:r>
          </a:p>
        </p:txBody>
      </p:sp>
      <p:sp>
        <p:nvSpPr>
          <p:cNvPr id="64" name="03-063-text"/>
          <p:cNvSpPr txBox="1"/>
          <p:nvPr/>
        </p:nvSpPr>
        <p:spPr>
          <a:xfrm>
            <a:off x="5200650" y="3314700"/>
            <a:ext cx="6191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C8531C"/>
                </a:solidFill>
                <a:latin typeface="DejaVu Sans"/>
              </a:defRPr>
            </a:pPr>
            <a:r>
              <a:t>−2</a:t>
            </a:r>
          </a:p>
        </p:txBody>
      </p:sp>
      <p:sp>
        <p:nvSpPr>
          <p:cNvPr id="65" name="03-064-text"/>
          <p:cNvSpPr txBox="1"/>
          <p:nvPr/>
        </p:nvSpPr>
        <p:spPr>
          <a:xfrm>
            <a:off x="5200650" y="3810000"/>
            <a:ext cx="6191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C8531C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66" name="03-065-text"/>
          <p:cNvSpPr txBox="1"/>
          <p:nvPr/>
        </p:nvSpPr>
        <p:spPr>
          <a:xfrm>
            <a:off x="5200650" y="1924050"/>
            <a:ext cx="619125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72638"/>
                </a:solidFill>
                <a:latin typeface="DejaVu Sans"/>
              </a:defRPr>
            </a:pPr>
            <a:r>
              <a:t>Ax</a:t>
            </a:r>
          </a:p>
        </p:txBody>
      </p:sp>
      <p:sp>
        <p:nvSpPr>
          <p:cNvPr id="67" name="03-066-line"/>
          <p:cNvSpPr/>
          <p:nvPr/>
        </p:nvSpPr>
        <p:spPr>
          <a:xfrm>
            <a:off x="1000125" y="3219450"/>
            <a:ext cx="2419350" cy="0"/>
          </a:xfrm>
          <a:custGeom>
            <a:avLst/>
            <a:gdLst/>
            <a:ahLst/>
            <a:cxnLst/>
            <a:rect l="l" t="t" r="r" b="b"/>
            <a:pathLst>
              <a:path w="254" h="0">
                <a:moveTo>
                  <a:pt x="0" y="0"/>
                </a:moveTo>
                <a:lnTo>
                  <a:pt x="254" y="0"/>
                </a:lnTo>
              </a:path>
            </a:pathLst>
          </a:custGeom>
          <a:noFill/>
          <a:ln w="14287">
            <a:solidFill>
              <a:srgbClr val="5464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03-067-text"/>
          <p:cNvSpPr txBox="1"/>
          <p:nvPr/>
        </p:nvSpPr>
        <p:spPr>
          <a:xfrm>
            <a:off x="800100" y="4562475"/>
            <a:ext cx="500062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The matrix stays local; selected x values travel.</a:t>
            </a:r>
          </a:p>
        </p:txBody>
      </p:sp>
      <p:sp>
        <p:nvSpPr>
          <p:cNvPr id="69" name="03-068-text"/>
          <p:cNvSpPr txBox="1"/>
          <p:nvPr/>
        </p:nvSpPr>
        <p:spPr>
          <a:xfrm>
            <a:off x="6362700" y="1743075"/>
            <a:ext cx="525780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46477"/>
                </a:solidFill>
                <a:latin typeface="DejaVu Sans"/>
              </a:defRPr>
            </a:pPr>
            <a:r>
              <a:t>2   EXCHANGE x, THEN MULTIPLY LOCAL ROWS</a:t>
            </a:r>
          </a:p>
        </p:txBody>
      </p:sp>
      <p:sp>
        <p:nvSpPr>
          <p:cNvPr id="70" name="03-069-rect"/>
          <p:cNvSpPr/>
          <p:nvPr/>
        </p:nvSpPr>
        <p:spPr>
          <a:xfrm>
            <a:off x="6353175" y="2143125"/>
            <a:ext cx="5305425" cy="1476375"/>
          </a:xfrm>
          <a:prstGeom prst="roundRect">
            <a:avLst>
              <a:gd name="adj" fmla="val 6451"/>
            </a:avLst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03-070-text"/>
          <p:cNvSpPr txBox="1"/>
          <p:nvPr/>
        </p:nvSpPr>
        <p:spPr>
          <a:xfrm>
            <a:off x="6534150" y="2295525"/>
            <a:ext cx="2895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463C9"/>
                </a:solidFill>
                <a:latin typeface="DejaVu Sans"/>
              </a:defRPr>
            </a:pPr>
            <a:r>
              <a:t>Rank 0 needs remote x₂</a:t>
            </a:r>
          </a:p>
        </p:txBody>
      </p:sp>
      <p:sp>
        <p:nvSpPr>
          <p:cNvPr id="72" name="03-071-rect"/>
          <p:cNvSpPr/>
          <p:nvPr/>
        </p:nvSpPr>
        <p:spPr>
          <a:xfrm>
            <a:off x="9572625" y="2295525"/>
            <a:ext cx="5238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03-072-text"/>
          <p:cNvSpPr txBox="1"/>
          <p:nvPr/>
        </p:nvSpPr>
        <p:spPr>
          <a:xfrm>
            <a:off x="9591675" y="2354579"/>
            <a:ext cx="4857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74" name="03-073-rect"/>
          <p:cNvSpPr/>
          <p:nvPr/>
        </p:nvSpPr>
        <p:spPr>
          <a:xfrm>
            <a:off x="10125075" y="2295525"/>
            <a:ext cx="5238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03-074-text"/>
          <p:cNvSpPr txBox="1"/>
          <p:nvPr/>
        </p:nvSpPr>
        <p:spPr>
          <a:xfrm>
            <a:off x="10144125" y="2354579"/>
            <a:ext cx="4857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76" name="03-075-rect"/>
          <p:cNvSpPr/>
          <p:nvPr/>
        </p:nvSpPr>
        <p:spPr>
          <a:xfrm>
            <a:off x="10677525" y="2295525"/>
            <a:ext cx="52387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03-076-text"/>
          <p:cNvSpPr txBox="1"/>
          <p:nvPr/>
        </p:nvSpPr>
        <p:spPr>
          <a:xfrm>
            <a:off x="10696575" y="2354579"/>
            <a:ext cx="4857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8531C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78" name="03-077-text"/>
          <p:cNvSpPr txBox="1"/>
          <p:nvPr/>
        </p:nvSpPr>
        <p:spPr>
          <a:xfrm>
            <a:off x="6543675" y="2914650"/>
            <a:ext cx="4848225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638"/>
                </a:solidFill>
                <a:latin typeface="DejaVu Sans"/>
              </a:defRPr>
            </a:pPr>
            <a:r>
              <a:t>y₁ = −1·1 + 2·2 − 1·4 = −1</a:t>
            </a:r>
          </a:p>
        </p:txBody>
      </p:sp>
      <p:sp>
        <p:nvSpPr>
          <p:cNvPr id="79" name="03-078-rect"/>
          <p:cNvSpPr/>
          <p:nvPr/>
        </p:nvSpPr>
        <p:spPr>
          <a:xfrm>
            <a:off x="6353175" y="3838575"/>
            <a:ext cx="5305425" cy="1476375"/>
          </a:xfrm>
          <a:prstGeom prst="roundRect">
            <a:avLst>
              <a:gd name="adj" fmla="val 6451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03-079-text"/>
          <p:cNvSpPr txBox="1"/>
          <p:nvPr/>
        </p:nvSpPr>
        <p:spPr>
          <a:xfrm>
            <a:off x="6534150" y="3990975"/>
            <a:ext cx="2895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C8531C"/>
                </a:solidFill>
                <a:latin typeface="DejaVu Sans"/>
              </a:defRPr>
            </a:pPr>
            <a:r>
              <a:t>Rank 1 needs remote x₁</a:t>
            </a:r>
          </a:p>
        </p:txBody>
      </p:sp>
      <p:sp>
        <p:nvSpPr>
          <p:cNvPr id="81" name="03-080-rect"/>
          <p:cNvSpPr/>
          <p:nvPr/>
        </p:nvSpPr>
        <p:spPr>
          <a:xfrm>
            <a:off x="9572625" y="3990975"/>
            <a:ext cx="52387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03-081-text"/>
          <p:cNvSpPr txBox="1"/>
          <p:nvPr/>
        </p:nvSpPr>
        <p:spPr>
          <a:xfrm>
            <a:off x="9591675" y="4050029"/>
            <a:ext cx="4857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83" name="03-082-rect"/>
          <p:cNvSpPr/>
          <p:nvPr/>
        </p:nvSpPr>
        <p:spPr>
          <a:xfrm>
            <a:off x="10125075" y="3990975"/>
            <a:ext cx="523875" cy="409575"/>
          </a:xfrm>
          <a:prstGeom prst="roundRect">
            <a:avLst>
              <a:gd name="adj" fmla="val 6976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03-083-text"/>
          <p:cNvSpPr txBox="1"/>
          <p:nvPr/>
        </p:nvSpPr>
        <p:spPr>
          <a:xfrm>
            <a:off x="10144125" y="4050029"/>
            <a:ext cx="4857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85" name="03-084-rect"/>
          <p:cNvSpPr/>
          <p:nvPr/>
        </p:nvSpPr>
        <p:spPr>
          <a:xfrm>
            <a:off x="10677525" y="3990975"/>
            <a:ext cx="52387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03-085-text"/>
          <p:cNvSpPr txBox="1"/>
          <p:nvPr/>
        </p:nvSpPr>
        <p:spPr>
          <a:xfrm>
            <a:off x="10696575" y="4050029"/>
            <a:ext cx="4857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463C9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87" name="03-086-text"/>
          <p:cNvSpPr txBox="1"/>
          <p:nvPr/>
        </p:nvSpPr>
        <p:spPr>
          <a:xfrm>
            <a:off x="6543675" y="4610100"/>
            <a:ext cx="4848225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638"/>
                </a:solidFill>
                <a:latin typeface="DejaVu Sans"/>
              </a:defRPr>
            </a:pPr>
            <a:r>
              <a:t>y₂ = −1·2 + 2·4 − 1·8 = −2</a:t>
            </a:r>
          </a:p>
        </p:txBody>
      </p:sp>
      <p:sp>
        <p:nvSpPr>
          <p:cNvPr id="88" name="03-087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03-088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03-089-text"/>
          <p:cNvSpPr txBox="1"/>
          <p:nvPr/>
        </p:nvSpPr>
        <p:spPr>
          <a:xfrm>
            <a:off x="723900" y="58007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A remote column reference becomes a local ghost-vector lookup.</a:t>
            </a:r>
          </a:p>
        </p:txBody>
      </p:sp>
      <p:sp>
        <p:nvSpPr>
          <p:cNvPr id="91" name="03-090-text"/>
          <p:cNvSpPr txBox="1"/>
          <p:nvPr/>
        </p:nvSpPr>
        <p:spPr>
          <a:xfrm>
            <a:off x="723900" y="6067425"/>
            <a:ext cx="106680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477"/>
                </a:solidFill>
                <a:latin typeface="DejaVu Sans"/>
              </a:defRPr>
            </a:pPr>
            <a:r>
              <a:t>Our API computes owned y += Ax; x and matrix inputs are preserved, and output ghosts stay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4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FIRST IMPLEMENTATION</a:t>
            </a:r>
          </a:p>
        </p:txBody>
      </p:sp>
      <p:sp>
        <p:nvSpPr>
          <p:cNvPr id="3" name="04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4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mpi4jax: pack → sendrecv → unpack</a:t>
            </a:r>
          </a:p>
        </p:txBody>
      </p:sp>
      <p:sp>
        <p:nvSpPr>
          <p:cNvPr id="5" name="04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The ownership plan is prepared once; the JIT-compiled operation exchanges current values.</a:t>
            </a:r>
          </a:p>
        </p:txBody>
      </p:sp>
      <p:sp>
        <p:nvSpPr>
          <p:cNvPr id="6" name="04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4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4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4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4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4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4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4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4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4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4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7" name="04-016-rect"/>
          <p:cNvSpPr/>
          <p:nvPr/>
        </p:nvSpPr>
        <p:spPr>
          <a:xfrm>
            <a:off x="533400" y="1800225"/>
            <a:ext cx="3105150" cy="2000250"/>
          </a:xfrm>
          <a:prstGeom prst="roundRect">
            <a:avLst>
              <a:gd name="adj" fmla="val 4761"/>
            </a:avLst>
          </a:prstGeom>
          <a:solidFill>
            <a:srgbClr val="EFF5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4-017-text"/>
          <p:cNvSpPr txBox="1"/>
          <p:nvPr/>
        </p:nvSpPr>
        <p:spPr>
          <a:xfrm>
            <a:off x="723900" y="1962150"/>
            <a:ext cx="27241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463C9"/>
                </a:solidFill>
                <a:latin typeface="DejaVu Sans"/>
              </a:defRPr>
            </a:pPr>
            <a:r>
              <a:t>1   Pack owner entries</a:t>
            </a:r>
          </a:p>
        </p:txBody>
      </p:sp>
      <p:sp>
        <p:nvSpPr>
          <p:cNvPr id="19" name="04-018-rect"/>
          <p:cNvSpPr/>
          <p:nvPr/>
        </p:nvSpPr>
        <p:spPr>
          <a:xfrm>
            <a:off x="4381500" y="1800225"/>
            <a:ext cx="3429000" cy="2000250"/>
          </a:xfrm>
          <a:prstGeom prst="roundRect">
            <a:avLst>
              <a:gd name="adj" fmla="val 4761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4-019-text"/>
          <p:cNvSpPr txBox="1"/>
          <p:nvPr/>
        </p:nvSpPr>
        <p:spPr>
          <a:xfrm>
            <a:off x="4572000" y="1962150"/>
            <a:ext cx="304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2   Exchange with peers</a:t>
            </a:r>
          </a:p>
        </p:txBody>
      </p:sp>
      <p:sp>
        <p:nvSpPr>
          <p:cNvPr id="21" name="04-020-rect"/>
          <p:cNvSpPr/>
          <p:nvPr/>
        </p:nvSpPr>
        <p:spPr>
          <a:xfrm>
            <a:off x="8553450" y="1800225"/>
            <a:ext cx="3105150" cy="2000250"/>
          </a:xfrm>
          <a:prstGeom prst="roundRect">
            <a:avLst>
              <a:gd name="adj" fmla="val 4761"/>
            </a:avLst>
          </a:prstGeom>
          <a:solidFill>
            <a:srgbClr val="FFF3EB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4-021-text"/>
          <p:cNvSpPr txBox="1"/>
          <p:nvPr/>
        </p:nvSpPr>
        <p:spPr>
          <a:xfrm>
            <a:off x="8743950" y="1962150"/>
            <a:ext cx="27241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8531C"/>
                </a:solidFill>
                <a:latin typeface="DejaVu Sans"/>
              </a:defRPr>
            </a:pPr>
            <a:r>
              <a:t>3   Fill ghost slots</a:t>
            </a:r>
          </a:p>
        </p:txBody>
      </p:sp>
      <p:sp>
        <p:nvSpPr>
          <p:cNvPr id="23" name="04-022-rect"/>
          <p:cNvSpPr/>
          <p:nvPr/>
        </p:nvSpPr>
        <p:spPr>
          <a:xfrm>
            <a:off x="771525" y="2495550"/>
            <a:ext cx="50482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4-023-text"/>
          <p:cNvSpPr txBox="1"/>
          <p:nvPr/>
        </p:nvSpPr>
        <p:spPr>
          <a:xfrm>
            <a:off x="790575" y="2536031"/>
            <a:ext cx="4667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04-024-rect"/>
          <p:cNvSpPr/>
          <p:nvPr/>
        </p:nvSpPr>
        <p:spPr>
          <a:xfrm>
            <a:off x="1304925" y="2495550"/>
            <a:ext cx="50482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4-025-text"/>
          <p:cNvSpPr txBox="1"/>
          <p:nvPr/>
        </p:nvSpPr>
        <p:spPr>
          <a:xfrm>
            <a:off x="1323975" y="2536031"/>
            <a:ext cx="4667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7" name="04-026-rect"/>
          <p:cNvSpPr/>
          <p:nvPr/>
        </p:nvSpPr>
        <p:spPr>
          <a:xfrm>
            <a:off x="1838325" y="2495550"/>
            <a:ext cx="50482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4-027-text"/>
          <p:cNvSpPr txBox="1"/>
          <p:nvPr/>
        </p:nvSpPr>
        <p:spPr>
          <a:xfrm>
            <a:off x="1857375" y="2536031"/>
            <a:ext cx="4667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C8531C"/>
                </a:solidFill>
                <a:latin typeface="DejaVu Sans"/>
              </a:defRPr>
            </a:pPr>
            <a:r>
              <a:t>?</a:t>
            </a:r>
          </a:p>
        </p:txBody>
      </p:sp>
      <p:sp>
        <p:nvSpPr>
          <p:cNvPr id="29" name="04-028-text"/>
          <p:cNvSpPr txBox="1"/>
          <p:nvPr/>
        </p:nvSpPr>
        <p:spPr>
          <a:xfrm>
            <a:off x="2543175" y="2571750"/>
            <a:ext cx="904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463C9"/>
                </a:solidFill>
                <a:latin typeface="DejaVu Sans"/>
              </a:defRPr>
            </a:pPr>
            <a:r>
              <a:t>send 2</a:t>
            </a:r>
          </a:p>
        </p:txBody>
      </p:sp>
      <p:sp>
        <p:nvSpPr>
          <p:cNvPr id="30" name="04-029-text"/>
          <p:cNvSpPr txBox="1"/>
          <p:nvPr/>
        </p:nvSpPr>
        <p:spPr>
          <a:xfrm>
            <a:off x="762000" y="3238500"/>
            <a:ext cx="264795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463C9"/>
                </a:solidFill>
                <a:latin typeface="DejaVu Sans Mono"/>
              </a:defRPr>
            </a:pPr>
            <a:r>
              <a:t>x[send_indices]</a:t>
            </a:r>
          </a:p>
        </p:txBody>
      </p:sp>
      <p:sp>
        <p:nvSpPr>
          <p:cNvPr id="31" name="04-030-text"/>
          <p:cNvSpPr txBox="1"/>
          <p:nvPr/>
        </p:nvSpPr>
        <p:spPr>
          <a:xfrm>
            <a:off x="4591050" y="2438400"/>
            <a:ext cx="3009900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72638"/>
                </a:solidFill>
                <a:latin typeface="DejaVu Sans Mono"/>
              </a:defRPr>
            </a:pPr>
            <a:r>
              <a:t>mpi4jax.sendrecv</a:t>
            </a:r>
          </a:p>
        </p:txBody>
      </p:sp>
      <p:sp>
        <p:nvSpPr>
          <p:cNvPr id="32" name="04-031-text"/>
          <p:cNvSpPr txBox="1"/>
          <p:nvPr/>
        </p:nvSpPr>
        <p:spPr>
          <a:xfrm>
            <a:off x="4591050" y="2933700"/>
            <a:ext cx="30099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546477"/>
                </a:solidFill>
                <a:latin typeface="DejaVu Sans"/>
              </a:defRPr>
            </a:pPr>
            <a:r>
              <a:t>Compiled bridge → MPI</a:t>
            </a:r>
          </a:p>
        </p:txBody>
      </p:sp>
      <p:sp>
        <p:nvSpPr>
          <p:cNvPr id="33" name="04-032-text"/>
          <p:cNvSpPr txBox="1"/>
          <p:nvPr/>
        </p:nvSpPr>
        <p:spPr>
          <a:xfrm>
            <a:off x="4591050" y="3333750"/>
            <a:ext cx="3009900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46477"/>
                </a:solidFill>
                <a:latin typeface="DejaVu Sans"/>
              </a:defRPr>
            </a:pPr>
            <a:r>
              <a:t>Neighbor buffers, fixed sizes</a:t>
            </a:r>
          </a:p>
        </p:txBody>
      </p:sp>
      <p:sp>
        <p:nvSpPr>
          <p:cNvPr id="34" name="04-033-rect"/>
          <p:cNvSpPr/>
          <p:nvPr/>
        </p:nvSpPr>
        <p:spPr>
          <a:xfrm>
            <a:off x="8801100" y="2495550"/>
            <a:ext cx="50482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4-034-text"/>
          <p:cNvSpPr txBox="1"/>
          <p:nvPr/>
        </p:nvSpPr>
        <p:spPr>
          <a:xfrm>
            <a:off x="8820150" y="2536031"/>
            <a:ext cx="4667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36" name="04-035-rect"/>
          <p:cNvSpPr/>
          <p:nvPr/>
        </p:nvSpPr>
        <p:spPr>
          <a:xfrm>
            <a:off x="9334500" y="2495550"/>
            <a:ext cx="50482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4-036-text"/>
          <p:cNvSpPr txBox="1"/>
          <p:nvPr/>
        </p:nvSpPr>
        <p:spPr>
          <a:xfrm>
            <a:off x="9353550" y="2536031"/>
            <a:ext cx="4667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38" name="04-037-rect"/>
          <p:cNvSpPr/>
          <p:nvPr/>
        </p:nvSpPr>
        <p:spPr>
          <a:xfrm>
            <a:off x="9867900" y="2495550"/>
            <a:ext cx="50482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4-038-text"/>
          <p:cNvSpPr txBox="1"/>
          <p:nvPr/>
        </p:nvSpPr>
        <p:spPr>
          <a:xfrm>
            <a:off x="9886950" y="2536031"/>
            <a:ext cx="466725" cy="347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C8531C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40" name="04-039-text"/>
          <p:cNvSpPr txBox="1"/>
          <p:nvPr/>
        </p:nvSpPr>
        <p:spPr>
          <a:xfrm>
            <a:off x="8810625" y="3238500"/>
            <a:ext cx="260985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C8531C"/>
                </a:solidFill>
                <a:latin typeface="DejaVu Sans"/>
              </a:defRPr>
            </a:pPr>
            <a:r>
              <a:t>ghost slots ← received</a:t>
            </a:r>
          </a:p>
        </p:txBody>
      </p:sp>
      <p:sp>
        <p:nvSpPr>
          <p:cNvPr id="41" name="04-040-line"/>
          <p:cNvSpPr/>
          <p:nvPr/>
        </p:nvSpPr>
        <p:spPr>
          <a:xfrm>
            <a:off x="3724275" y="2733675"/>
            <a:ext cx="561975" cy="0"/>
          </a:xfrm>
          <a:custGeom>
            <a:avLst/>
            <a:gdLst/>
            <a:ahLst/>
            <a:cxnLst/>
            <a:rect l="l" t="t" r="r" b="b"/>
            <a:pathLst>
              <a:path w="59" h="0">
                <a:moveTo>
                  <a:pt x="0" y="0"/>
                </a:moveTo>
                <a:lnTo>
                  <a:pt x="59" y="0"/>
                </a:lnTo>
              </a:path>
            </a:pathLst>
          </a:custGeom>
          <a:noFill/>
          <a:ln w="2857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04-041-poly"/>
          <p:cNvSpPr/>
          <p:nvPr/>
        </p:nvSpPr>
        <p:spPr>
          <a:xfrm>
            <a:off x="4191000" y="26860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04-042-line"/>
          <p:cNvSpPr/>
          <p:nvPr/>
        </p:nvSpPr>
        <p:spPr>
          <a:xfrm>
            <a:off x="7905750" y="2733675"/>
            <a:ext cx="542925" cy="0"/>
          </a:xfrm>
          <a:custGeom>
            <a:avLst/>
            <a:gdLst/>
            <a:ahLst/>
            <a:cxnLst/>
            <a:rect l="l" t="t" r="r" b="b"/>
            <a:pathLst>
              <a:path w="57" h="0">
                <a:moveTo>
                  <a:pt x="0" y="0"/>
                </a:moveTo>
                <a:lnTo>
                  <a:pt x="57" y="0"/>
                </a:lnTo>
              </a:path>
            </a:pathLst>
          </a:custGeom>
          <a:noFill/>
          <a:ln w="2857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04-043-poly"/>
          <p:cNvSpPr/>
          <p:nvPr/>
        </p:nvSpPr>
        <p:spPr>
          <a:xfrm>
            <a:off x="8353425" y="26860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C85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4-044-text"/>
          <p:cNvSpPr txBox="1"/>
          <p:nvPr/>
        </p:nvSpPr>
        <p:spPr>
          <a:xfrm>
            <a:off x="542925" y="4086225"/>
            <a:ext cx="11049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638"/>
                </a:solidFill>
                <a:latin typeface="DejaVu Sans"/>
              </a:defRPr>
            </a:pPr>
            <a:r>
              <a:t>GPU buffers can follow different transport paths</a:t>
            </a:r>
          </a:p>
        </p:txBody>
      </p:sp>
      <p:sp>
        <p:nvSpPr>
          <p:cNvPr id="46" name="04-045-rect"/>
          <p:cNvSpPr/>
          <p:nvPr/>
        </p:nvSpPr>
        <p:spPr>
          <a:xfrm>
            <a:off x="533400" y="4476750"/>
            <a:ext cx="5372100" cy="971550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4-046-text"/>
          <p:cNvSpPr txBox="1"/>
          <p:nvPr/>
        </p:nvSpPr>
        <p:spPr>
          <a:xfrm>
            <a:off x="704850" y="4591050"/>
            <a:ext cx="50101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HOST-STAGED</a:t>
            </a:r>
          </a:p>
        </p:txBody>
      </p:sp>
      <p:sp>
        <p:nvSpPr>
          <p:cNvPr id="48" name="04-047-text"/>
          <p:cNvSpPr txBox="1"/>
          <p:nvPr/>
        </p:nvSpPr>
        <p:spPr>
          <a:xfrm>
            <a:off x="704850" y="4905375"/>
            <a:ext cx="5010150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72638"/>
                </a:solidFill>
                <a:latin typeface="DejaVu Sans"/>
              </a:defRPr>
            </a:pPr>
            <a:r>
              <a:t>GPU → CPU → MPI → CPU → GPU</a:t>
            </a:r>
          </a:p>
        </p:txBody>
      </p:sp>
      <p:sp>
        <p:nvSpPr>
          <p:cNvPr id="49" name="04-048-rect"/>
          <p:cNvSpPr/>
          <p:nvPr/>
        </p:nvSpPr>
        <p:spPr>
          <a:xfrm>
            <a:off x="6153150" y="4476750"/>
            <a:ext cx="5505450" cy="971550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04-049-text"/>
          <p:cNvSpPr txBox="1"/>
          <p:nvPr/>
        </p:nvSpPr>
        <p:spPr>
          <a:xfrm>
            <a:off x="6343650" y="4591050"/>
            <a:ext cx="51054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CUDA-AWARE MPI</a:t>
            </a:r>
          </a:p>
        </p:txBody>
      </p:sp>
      <p:sp>
        <p:nvSpPr>
          <p:cNvPr id="51" name="04-050-text"/>
          <p:cNvSpPr txBox="1"/>
          <p:nvPr/>
        </p:nvSpPr>
        <p:spPr>
          <a:xfrm>
            <a:off x="6343650" y="4905375"/>
            <a:ext cx="5105400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72638"/>
                </a:solidFill>
                <a:latin typeface="DejaVu Sans"/>
              </a:defRPr>
            </a:pPr>
            <a:r>
              <a:t>GPU pointer → MPI → GPU pointer</a:t>
            </a:r>
          </a:p>
        </p:txBody>
      </p:sp>
      <p:sp>
        <p:nvSpPr>
          <p:cNvPr id="52" name="04-051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04-052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04-053-text"/>
          <p:cNvSpPr txBox="1"/>
          <p:nvPr/>
        </p:nvSpPr>
        <p:spPr>
          <a:xfrm>
            <a:off x="723900" y="58769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CUDA-aware MPI accepts device buffers; the actual transport may still stage on the 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5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WHAT WE ENCOUNTERED</a:t>
            </a:r>
          </a:p>
        </p:txBody>
      </p:sp>
      <p:sp>
        <p:nvSpPr>
          <p:cNvPr id="3" name="05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5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The challenge: make the whole HPC stack agree</a:t>
            </a:r>
          </a:p>
        </p:txBody>
      </p:sp>
      <p:sp>
        <p:nvSpPr>
          <p:cNvPr id="5" name="05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Python packages, native libraries and the selected runtime transport must be compatible.</a:t>
            </a:r>
          </a:p>
        </p:txBody>
      </p:sp>
      <p:sp>
        <p:nvSpPr>
          <p:cNvPr id="6" name="05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5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5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5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5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5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5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5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5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5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5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17" name="05-016-line"/>
          <p:cNvSpPr/>
          <p:nvPr/>
        </p:nvSpPr>
        <p:spPr>
          <a:xfrm>
            <a:off x="2124075" y="2343150"/>
            <a:ext cx="0" cy="714375"/>
          </a:xfrm>
          <a:custGeom>
            <a:avLst/>
            <a:gdLst/>
            <a:ahLst/>
            <a:cxnLst/>
            <a:rect l="l" t="t" r="r" b="b"/>
            <a:pathLst>
              <a:path w="0" h="75">
                <a:moveTo>
                  <a:pt x="0" y="0"/>
                </a:moveTo>
                <a:lnTo>
                  <a:pt x="0" y="75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5-017-line"/>
          <p:cNvSpPr/>
          <p:nvPr/>
        </p:nvSpPr>
        <p:spPr>
          <a:xfrm>
            <a:off x="4667250" y="2343150"/>
            <a:ext cx="0" cy="714375"/>
          </a:xfrm>
          <a:custGeom>
            <a:avLst/>
            <a:gdLst/>
            <a:ahLst/>
            <a:cxnLst/>
            <a:rect l="l" t="t" r="r" b="b"/>
            <a:pathLst>
              <a:path w="0" h="75">
                <a:moveTo>
                  <a:pt x="0" y="0"/>
                </a:moveTo>
                <a:lnTo>
                  <a:pt x="0" y="75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05-018-line"/>
          <p:cNvSpPr/>
          <p:nvPr/>
        </p:nvSpPr>
        <p:spPr>
          <a:xfrm>
            <a:off x="9429750" y="2343150"/>
            <a:ext cx="0" cy="714375"/>
          </a:xfrm>
          <a:custGeom>
            <a:avLst/>
            <a:gdLst/>
            <a:ahLst/>
            <a:cxnLst/>
            <a:rect l="l" t="t" r="r" b="b"/>
            <a:pathLst>
              <a:path w="0" h="75">
                <a:moveTo>
                  <a:pt x="0" y="0"/>
                </a:moveTo>
                <a:lnTo>
                  <a:pt x="0" y="75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5-019-line"/>
          <p:cNvSpPr/>
          <p:nvPr/>
        </p:nvSpPr>
        <p:spPr>
          <a:xfrm>
            <a:off x="5991225" y="2009775"/>
            <a:ext cx="2009775" cy="0"/>
          </a:xfrm>
          <a:custGeom>
            <a:avLst/>
            <a:gdLst/>
            <a:ahLst/>
            <a:cxnLst/>
            <a:rect l="l" t="t" r="r" b="b"/>
            <a:pathLst>
              <a:path w="211" h="0">
                <a:moveTo>
                  <a:pt x="0" y="0"/>
                </a:moveTo>
                <a:lnTo>
                  <a:pt x="211" y="0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05-020-line"/>
          <p:cNvSpPr/>
          <p:nvPr/>
        </p:nvSpPr>
        <p:spPr>
          <a:xfrm>
            <a:off x="3448050" y="3381375"/>
            <a:ext cx="381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0" y="0"/>
                </a:moveTo>
                <a:lnTo>
                  <a:pt x="4" y="0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5-021-line"/>
          <p:cNvSpPr/>
          <p:nvPr/>
        </p:nvSpPr>
        <p:spPr>
          <a:xfrm>
            <a:off x="8220075" y="3381375"/>
            <a:ext cx="133350" cy="0"/>
          </a:xfrm>
          <a:custGeom>
            <a:avLst/>
            <a:gdLst/>
            <a:ahLst/>
            <a:cxnLst/>
            <a:rect l="l" t="t" r="r" b="b"/>
            <a:pathLst>
              <a:path w="14" h="0">
                <a:moveTo>
                  <a:pt x="0" y="0"/>
                </a:moveTo>
                <a:lnTo>
                  <a:pt x="14" y="0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05-022-line"/>
          <p:cNvSpPr/>
          <p:nvPr/>
        </p:nvSpPr>
        <p:spPr>
          <a:xfrm>
            <a:off x="2124075" y="3762375"/>
            <a:ext cx="0" cy="400050"/>
          </a:xfrm>
          <a:custGeom>
            <a:avLst/>
            <a:gdLst/>
            <a:ahLst/>
            <a:cxnLst/>
            <a:rect l="l" t="t" r="r" b="b"/>
            <a:pathLst>
              <a:path w="0" h="42">
                <a:moveTo>
                  <a:pt x="0" y="0"/>
                </a:moveTo>
                <a:lnTo>
                  <a:pt x="0" y="42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5-023-line"/>
          <p:cNvSpPr/>
          <p:nvPr/>
        </p:nvSpPr>
        <p:spPr>
          <a:xfrm>
            <a:off x="2124075" y="4162425"/>
            <a:ext cx="5153025" cy="0"/>
          </a:xfrm>
          <a:custGeom>
            <a:avLst/>
            <a:gdLst/>
            <a:ahLst/>
            <a:cxnLst/>
            <a:rect l="l" t="t" r="r" b="b"/>
            <a:pathLst>
              <a:path w="541" h="0">
                <a:moveTo>
                  <a:pt x="0" y="0"/>
                </a:moveTo>
                <a:lnTo>
                  <a:pt x="541" y="0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5-024-line"/>
          <p:cNvSpPr/>
          <p:nvPr/>
        </p:nvSpPr>
        <p:spPr>
          <a:xfrm>
            <a:off x="7277100" y="3762375"/>
            <a:ext cx="0" cy="400050"/>
          </a:xfrm>
          <a:custGeom>
            <a:avLst/>
            <a:gdLst/>
            <a:ahLst/>
            <a:cxnLst/>
            <a:rect l="l" t="t" r="r" b="b"/>
            <a:pathLst>
              <a:path w="0" h="42">
                <a:moveTo>
                  <a:pt x="0" y="4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46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5-025-rect"/>
          <p:cNvSpPr/>
          <p:nvPr/>
        </p:nvSpPr>
        <p:spPr>
          <a:xfrm>
            <a:off x="533400" y="1685925"/>
            <a:ext cx="2914650" cy="742950"/>
          </a:xfrm>
          <a:prstGeom prst="roundRect">
            <a:avLst>
              <a:gd name="adj" fmla="val 12820"/>
            </a:avLst>
          </a:prstGeom>
          <a:solidFill>
            <a:srgbClr val="EFF5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5-026-text"/>
          <p:cNvSpPr txBox="1"/>
          <p:nvPr/>
        </p:nvSpPr>
        <p:spPr>
          <a:xfrm>
            <a:off x="723900" y="1847850"/>
            <a:ext cx="2533650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2463C9"/>
                </a:solidFill>
                <a:latin typeface="DejaVu Sans"/>
              </a:defRPr>
            </a:pPr>
            <a:r>
              <a:t>DOLFINx / PETSc</a:t>
            </a:r>
          </a:p>
        </p:txBody>
      </p:sp>
      <p:sp>
        <p:nvSpPr>
          <p:cNvPr id="28" name="05-027-rect"/>
          <p:cNvSpPr/>
          <p:nvPr/>
        </p:nvSpPr>
        <p:spPr>
          <a:xfrm>
            <a:off x="3486150" y="1685925"/>
            <a:ext cx="2505075" cy="742950"/>
          </a:xfrm>
          <a:prstGeom prst="roundRect">
            <a:avLst>
              <a:gd name="adj" fmla="val 12820"/>
            </a:avLst>
          </a:prstGeom>
          <a:solidFill>
            <a:srgbClr val="EDF8F5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05-028-text"/>
          <p:cNvSpPr txBox="1"/>
          <p:nvPr/>
        </p:nvSpPr>
        <p:spPr>
          <a:xfrm>
            <a:off x="3676650" y="1847850"/>
            <a:ext cx="2124075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087D70"/>
                </a:solidFill>
                <a:latin typeface="DejaVu Sans"/>
              </a:defRPr>
            </a:pPr>
            <a:r>
              <a:t>mpi4jax</a:t>
            </a:r>
          </a:p>
        </p:txBody>
      </p:sp>
      <p:sp>
        <p:nvSpPr>
          <p:cNvPr id="30" name="05-029-rect"/>
          <p:cNvSpPr/>
          <p:nvPr/>
        </p:nvSpPr>
        <p:spPr>
          <a:xfrm>
            <a:off x="8001000" y="1685925"/>
            <a:ext cx="3657600" cy="742950"/>
          </a:xfrm>
          <a:prstGeom prst="roundRect">
            <a:avLst>
              <a:gd name="adj" fmla="val 12820"/>
            </a:avLst>
          </a:prstGeom>
          <a:solidFill>
            <a:srgbClr val="FFF3EB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05-030-text"/>
          <p:cNvSpPr txBox="1"/>
          <p:nvPr/>
        </p:nvSpPr>
        <p:spPr>
          <a:xfrm>
            <a:off x="8191500" y="1847850"/>
            <a:ext cx="3276600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8531C"/>
                </a:solidFill>
                <a:latin typeface="DejaVu Sans"/>
              </a:defRPr>
            </a:pPr>
            <a:r>
              <a:t>JAX / jaxlib</a:t>
            </a:r>
          </a:p>
        </p:txBody>
      </p:sp>
      <p:sp>
        <p:nvSpPr>
          <p:cNvPr id="32" name="05-031-rect"/>
          <p:cNvSpPr/>
          <p:nvPr/>
        </p:nvSpPr>
        <p:spPr>
          <a:xfrm>
            <a:off x="533400" y="3019425"/>
            <a:ext cx="2914650" cy="742950"/>
          </a:xfrm>
          <a:prstGeom prst="roundRect">
            <a:avLst>
              <a:gd name="adj" fmla="val 12820"/>
            </a:avLst>
          </a:prstGeom>
          <a:solidFill>
            <a:srgbClr val="EFF5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05-032-text"/>
          <p:cNvSpPr txBox="1"/>
          <p:nvPr/>
        </p:nvSpPr>
        <p:spPr>
          <a:xfrm>
            <a:off x="723900" y="3181350"/>
            <a:ext cx="2533650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2463C9"/>
                </a:solidFill>
                <a:latin typeface="DejaVu Sans"/>
              </a:defRPr>
            </a:pPr>
            <a:r>
              <a:t>MPI library</a:t>
            </a:r>
          </a:p>
        </p:txBody>
      </p:sp>
      <p:sp>
        <p:nvSpPr>
          <p:cNvPr id="34" name="05-033-rect"/>
          <p:cNvSpPr/>
          <p:nvPr/>
        </p:nvSpPr>
        <p:spPr>
          <a:xfrm>
            <a:off x="3486150" y="3019425"/>
            <a:ext cx="2505075" cy="742950"/>
          </a:xfrm>
          <a:prstGeom prst="roundRect">
            <a:avLst>
              <a:gd name="adj" fmla="val 12820"/>
            </a:avLst>
          </a:prstGeom>
          <a:solidFill>
            <a:srgbClr val="EDF8F5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5-034-text"/>
          <p:cNvSpPr txBox="1"/>
          <p:nvPr/>
        </p:nvSpPr>
        <p:spPr>
          <a:xfrm>
            <a:off x="3676650" y="3181350"/>
            <a:ext cx="2124075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087D70"/>
                </a:solidFill>
                <a:latin typeface="DejaVu Sans"/>
              </a:defRPr>
            </a:pPr>
            <a:r>
              <a:t>mpi4py</a:t>
            </a:r>
          </a:p>
        </p:txBody>
      </p:sp>
      <p:sp>
        <p:nvSpPr>
          <p:cNvPr id="36" name="05-035-rect"/>
          <p:cNvSpPr/>
          <p:nvPr/>
        </p:nvSpPr>
        <p:spPr>
          <a:xfrm>
            <a:off x="6334125" y="3019425"/>
            <a:ext cx="1885950" cy="742950"/>
          </a:xfrm>
          <a:prstGeom prst="roundRect">
            <a:avLst>
              <a:gd name="adj" fmla="val 12820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5-036-text"/>
          <p:cNvSpPr txBox="1"/>
          <p:nvPr/>
        </p:nvSpPr>
        <p:spPr>
          <a:xfrm>
            <a:off x="6524625" y="3181350"/>
            <a:ext cx="15049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Transport</a:t>
            </a:r>
          </a:p>
        </p:txBody>
      </p:sp>
      <p:sp>
        <p:nvSpPr>
          <p:cNvPr id="38" name="05-037-rect"/>
          <p:cNvSpPr/>
          <p:nvPr/>
        </p:nvSpPr>
        <p:spPr>
          <a:xfrm>
            <a:off x="8353425" y="3019425"/>
            <a:ext cx="3305175" cy="742950"/>
          </a:xfrm>
          <a:prstGeom prst="roundRect">
            <a:avLst>
              <a:gd name="adj" fmla="val 12820"/>
            </a:avLst>
          </a:prstGeom>
          <a:solidFill>
            <a:srgbClr val="FFF3EB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5-038-text"/>
          <p:cNvSpPr txBox="1"/>
          <p:nvPr/>
        </p:nvSpPr>
        <p:spPr>
          <a:xfrm>
            <a:off x="8543925" y="3181350"/>
            <a:ext cx="2924175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8531C"/>
                </a:solidFill>
                <a:latin typeface="DejaVu Sans"/>
              </a:defRPr>
            </a:pPr>
            <a:r>
              <a:t>CUDA / driver</a:t>
            </a:r>
          </a:p>
        </p:txBody>
      </p:sp>
      <p:sp>
        <p:nvSpPr>
          <p:cNvPr id="40" name="05-039-rect"/>
          <p:cNvSpPr/>
          <p:nvPr/>
        </p:nvSpPr>
        <p:spPr>
          <a:xfrm>
            <a:off x="666750" y="2590800"/>
            <a:ext cx="259080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05-040-rect"/>
          <p:cNvSpPr/>
          <p:nvPr/>
        </p:nvSpPr>
        <p:spPr>
          <a:xfrm>
            <a:off x="3600450" y="2590800"/>
            <a:ext cx="2314575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05-041-rect"/>
          <p:cNvSpPr/>
          <p:nvPr/>
        </p:nvSpPr>
        <p:spPr>
          <a:xfrm>
            <a:off x="8201025" y="2590800"/>
            <a:ext cx="32575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05-042-text"/>
          <p:cNvSpPr txBox="1"/>
          <p:nvPr/>
        </p:nvSpPr>
        <p:spPr>
          <a:xfrm>
            <a:off x="666750" y="2619375"/>
            <a:ext cx="259080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shared native MPI stack</a:t>
            </a:r>
          </a:p>
        </p:txBody>
      </p:sp>
      <p:sp>
        <p:nvSpPr>
          <p:cNvPr id="44" name="05-043-text"/>
          <p:cNvSpPr txBox="1"/>
          <p:nvPr/>
        </p:nvSpPr>
        <p:spPr>
          <a:xfrm>
            <a:off x="3600450" y="2619375"/>
            <a:ext cx="2314575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build + runtime linkage</a:t>
            </a:r>
          </a:p>
        </p:txBody>
      </p:sp>
      <p:sp>
        <p:nvSpPr>
          <p:cNvPr id="45" name="05-044-text"/>
          <p:cNvSpPr txBox="1"/>
          <p:nvPr/>
        </p:nvSpPr>
        <p:spPr>
          <a:xfrm>
            <a:off x="8201025" y="2619375"/>
            <a:ext cx="32575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GPU build + supported runtime</a:t>
            </a:r>
          </a:p>
        </p:txBody>
      </p:sp>
      <p:sp>
        <p:nvSpPr>
          <p:cNvPr id="46" name="05-045-text"/>
          <p:cNvSpPr txBox="1"/>
          <p:nvPr/>
        </p:nvSpPr>
        <p:spPr>
          <a:xfrm>
            <a:off x="6238875" y="2152650"/>
            <a:ext cx="16383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477"/>
                </a:solidFill>
                <a:latin typeface="DejaVu Sans"/>
              </a:defRPr>
            </a:pPr>
            <a:r>
              <a:t>JAX compatibility</a:t>
            </a:r>
          </a:p>
        </p:txBody>
      </p:sp>
      <p:sp>
        <p:nvSpPr>
          <p:cNvPr id="47" name="05-046-rect"/>
          <p:cNvSpPr/>
          <p:nvPr/>
        </p:nvSpPr>
        <p:spPr>
          <a:xfrm>
            <a:off x="3143250" y="4029075"/>
            <a:ext cx="3076575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5-047-text"/>
          <p:cNvSpPr txBox="1"/>
          <p:nvPr/>
        </p:nvSpPr>
        <p:spPr>
          <a:xfrm>
            <a:off x="3228975" y="4057650"/>
            <a:ext cx="2952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MPI selects a runtime transport</a:t>
            </a:r>
          </a:p>
        </p:txBody>
      </p:sp>
      <p:sp>
        <p:nvSpPr>
          <p:cNvPr id="49" name="05-048-text"/>
          <p:cNvSpPr txBox="1"/>
          <p:nvPr/>
        </p:nvSpPr>
        <p:spPr>
          <a:xfrm>
            <a:off x="7696200" y="3990975"/>
            <a:ext cx="38290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Transport must handle GPU buffers.</a:t>
            </a:r>
          </a:p>
        </p:txBody>
      </p:sp>
      <p:sp>
        <p:nvSpPr>
          <p:cNvPr id="50" name="05-049-rect"/>
          <p:cNvSpPr/>
          <p:nvPr/>
        </p:nvSpPr>
        <p:spPr>
          <a:xfrm>
            <a:off x="533400" y="4429125"/>
            <a:ext cx="5372100" cy="1114425"/>
          </a:xfrm>
          <a:prstGeom prst="roundRect">
            <a:avLst>
              <a:gd name="adj" fmla="val 683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05-050-text"/>
          <p:cNvSpPr txBox="1"/>
          <p:nvPr/>
        </p:nvSpPr>
        <p:spPr>
          <a:xfrm>
            <a:off x="723900" y="4552950"/>
            <a:ext cx="49911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638"/>
                </a:solidFill>
                <a:latin typeface="DejaVu Sans"/>
              </a:defRPr>
            </a:pPr>
            <a:r>
              <a:t>01   CUDA discovery across Spack + venv</a:t>
            </a:r>
          </a:p>
        </p:txBody>
      </p:sp>
      <p:sp>
        <p:nvSpPr>
          <p:cNvPr id="52" name="05-051-text"/>
          <p:cNvSpPr txBox="1"/>
          <p:nvPr/>
        </p:nvSpPr>
        <p:spPr>
          <a:xfrm>
            <a:off x="723900" y="4924425"/>
            <a:ext cx="4991100" cy="483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mpi4py and CUDA lived in different prefixes.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The mpi4jax build needed a discovery fix.</a:t>
            </a:r>
          </a:p>
        </p:txBody>
      </p:sp>
      <p:sp>
        <p:nvSpPr>
          <p:cNvPr id="53" name="05-052-rect"/>
          <p:cNvSpPr/>
          <p:nvPr/>
        </p:nvSpPr>
        <p:spPr>
          <a:xfrm>
            <a:off x="6153150" y="4429125"/>
            <a:ext cx="5505450" cy="1114425"/>
          </a:xfrm>
          <a:prstGeom prst="roundRect">
            <a:avLst>
              <a:gd name="adj" fmla="val 683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05-053-text"/>
          <p:cNvSpPr txBox="1"/>
          <p:nvPr/>
        </p:nvSpPr>
        <p:spPr>
          <a:xfrm>
            <a:off x="6343650" y="4552950"/>
            <a:ext cx="51244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638"/>
                </a:solidFill>
                <a:latin typeface="DejaVu Sans"/>
              </a:defRPr>
            </a:pPr>
            <a:r>
              <a:t>02   Selected UCX lacked GPU support</a:t>
            </a:r>
          </a:p>
        </p:txBody>
      </p:sp>
      <p:sp>
        <p:nvSpPr>
          <p:cNvPr id="55" name="05-054-text"/>
          <p:cNvSpPr txBox="1"/>
          <p:nvPr/>
        </p:nvSpPr>
        <p:spPr>
          <a:xfrm>
            <a:off x="6343650" y="4924425"/>
            <a:ext cx="5124450" cy="483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The loaded transport misread a device buffer.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A working MPI import did not validate this path.</a:t>
            </a:r>
          </a:p>
        </p:txBody>
      </p:sp>
      <p:sp>
        <p:nvSpPr>
          <p:cNvPr id="56" name="05-055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5-056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05-057-text"/>
          <p:cNvSpPr txBox="1"/>
          <p:nvPr/>
        </p:nvSpPr>
        <p:spPr>
          <a:xfrm>
            <a:off x="723900" y="58769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Successful installation is only the start: validate the GPU exchange in the actual job.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6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OUR IMPLEMENTATION</a:t>
            </a:r>
          </a:p>
        </p:txBody>
      </p:sp>
      <p:sp>
        <p:nvSpPr>
          <p:cNvPr id="3" name="06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6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Explicit ghost exchange with JAX sharding</a:t>
            </a:r>
          </a:p>
        </p:txBody>
      </p:sp>
      <p:sp>
        <p:nvSpPr>
          <p:cNvPr id="5" name="06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One rank per GPU • retain DOLFINx ownership • let JAX execute the numerical collective</a:t>
            </a:r>
          </a:p>
        </p:txBody>
      </p:sp>
      <p:sp>
        <p:nvSpPr>
          <p:cNvPr id="6" name="06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6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6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6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6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6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6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6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6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6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6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17" name="06-016-rect"/>
          <p:cNvSpPr/>
          <p:nvPr/>
        </p:nvSpPr>
        <p:spPr>
          <a:xfrm>
            <a:off x="533400" y="1609725"/>
            <a:ext cx="11125200" cy="752475"/>
          </a:xfrm>
          <a:prstGeom prst="roundRect">
            <a:avLst>
              <a:gd name="adj" fmla="val 1139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6-017-text"/>
          <p:cNvSpPr txBox="1"/>
          <p:nvPr/>
        </p:nvSpPr>
        <p:spPr>
          <a:xfrm>
            <a:off x="723900" y="1724025"/>
            <a:ext cx="1657350" cy="2238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546477"/>
                </a:solidFill>
                <a:latin typeface="DejaVu Sans"/>
              </a:defRPr>
            </a:pPr>
            <a:r>
              <a:t>ONCE / HOST</a:t>
            </a:r>
          </a:p>
        </p:txBody>
      </p:sp>
      <p:sp>
        <p:nvSpPr>
          <p:cNvPr id="19" name="06-018-text"/>
          <p:cNvSpPr txBox="1"/>
          <p:nvPr/>
        </p:nvSpPr>
        <p:spPr>
          <a:xfrm>
            <a:off x="2419350" y="1704975"/>
            <a:ext cx="9001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638"/>
                </a:solidFill>
                <a:latin typeface="DejaVu Sans"/>
              </a:defRPr>
            </a:pPr>
            <a:r>
              <a:t>DOLFINx IndexMap + mpi4py metadata → packing indices, receive slots, masks</a:t>
            </a:r>
          </a:p>
        </p:txBody>
      </p:sp>
      <p:sp>
        <p:nvSpPr>
          <p:cNvPr id="20" name="06-019-text"/>
          <p:cNvSpPr txBox="1"/>
          <p:nvPr/>
        </p:nvSpPr>
        <p:spPr>
          <a:xfrm>
            <a:off x="2419350" y="2009775"/>
            <a:ext cx="8991600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46477"/>
                </a:solidFill>
                <a:latin typeface="DejaVu Sans"/>
              </a:defRPr>
            </a:pPr>
            <a:r>
              <a:t>Initialize distributed JAX; create a one-dimensional device mesh with axis “rank”.</a:t>
            </a:r>
          </a:p>
        </p:txBody>
      </p:sp>
      <p:sp>
        <p:nvSpPr>
          <p:cNvPr id="21" name="06-020-text"/>
          <p:cNvSpPr txBox="1"/>
          <p:nvPr/>
        </p:nvSpPr>
        <p:spPr>
          <a:xfrm>
            <a:off x="533400" y="2581275"/>
            <a:ext cx="58102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46477"/>
                </a:solidFill>
                <a:latin typeface="DejaVu Sans"/>
              </a:defRPr>
            </a:pPr>
            <a:r>
              <a:t>GLOBAL ARRAY SHAPE [2, 9]   /   ONE ROW PER GPU</a:t>
            </a:r>
          </a:p>
        </p:txBody>
      </p:sp>
      <p:sp>
        <p:nvSpPr>
          <p:cNvPr id="22" name="06-021-text"/>
          <p:cNvSpPr txBox="1"/>
          <p:nvPr/>
        </p:nvSpPr>
        <p:spPr>
          <a:xfrm>
            <a:off x="552450" y="3009900"/>
            <a:ext cx="11620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463C9"/>
                </a:solidFill>
                <a:latin typeface="DejaVu Sans"/>
              </a:defRPr>
            </a:pPr>
            <a:r>
              <a:t>GPU 0</a:t>
            </a:r>
          </a:p>
        </p:txBody>
      </p:sp>
      <p:sp>
        <p:nvSpPr>
          <p:cNvPr id="23" name="06-022-rect"/>
          <p:cNvSpPr/>
          <p:nvPr/>
        </p:nvSpPr>
        <p:spPr>
          <a:xfrm>
            <a:off x="1819275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6-023-text"/>
          <p:cNvSpPr txBox="1"/>
          <p:nvPr/>
        </p:nvSpPr>
        <p:spPr>
          <a:xfrm>
            <a:off x="1838325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u₀</a:t>
            </a:r>
          </a:p>
        </p:txBody>
      </p:sp>
      <p:sp>
        <p:nvSpPr>
          <p:cNvPr id="25" name="06-024-rect"/>
          <p:cNvSpPr/>
          <p:nvPr/>
        </p:nvSpPr>
        <p:spPr>
          <a:xfrm>
            <a:off x="2228850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6-025-text"/>
          <p:cNvSpPr txBox="1"/>
          <p:nvPr/>
        </p:nvSpPr>
        <p:spPr>
          <a:xfrm>
            <a:off x="2247900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u₁</a:t>
            </a:r>
          </a:p>
        </p:txBody>
      </p:sp>
      <p:sp>
        <p:nvSpPr>
          <p:cNvPr id="27" name="06-026-rect"/>
          <p:cNvSpPr/>
          <p:nvPr/>
        </p:nvSpPr>
        <p:spPr>
          <a:xfrm>
            <a:off x="2638425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6-027-text"/>
          <p:cNvSpPr txBox="1"/>
          <p:nvPr/>
        </p:nvSpPr>
        <p:spPr>
          <a:xfrm>
            <a:off x="2657475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u₂</a:t>
            </a:r>
          </a:p>
        </p:txBody>
      </p:sp>
      <p:sp>
        <p:nvSpPr>
          <p:cNvPr id="29" name="06-028-rect"/>
          <p:cNvSpPr/>
          <p:nvPr/>
        </p:nvSpPr>
        <p:spPr>
          <a:xfrm>
            <a:off x="3048000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06-029-text"/>
          <p:cNvSpPr txBox="1"/>
          <p:nvPr/>
        </p:nvSpPr>
        <p:spPr>
          <a:xfrm>
            <a:off x="3067050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u₄</a:t>
            </a:r>
          </a:p>
        </p:txBody>
      </p:sp>
      <p:sp>
        <p:nvSpPr>
          <p:cNvPr id="31" name="06-030-rect"/>
          <p:cNvSpPr/>
          <p:nvPr/>
        </p:nvSpPr>
        <p:spPr>
          <a:xfrm>
            <a:off x="3457575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6-031-text"/>
          <p:cNvSpPr txBox="1"/>
          <p:nvPr/>
        </p:nvSpPr>
        <p:spPr>
          <a:xfrm>
            <a:off x="3476625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u₅</a:t>
            </a:r>
          </a:p>
        </p:txBody>
      </p:sp>
      <p:sp>
        <p:nvSpPr>
          <p:cNvPr id="33" name="06-032-rect"/>
          <p:cNvSpPr/>
          <p:nvPr/>
        </p:nvSpPr>
        <p:spPr>
          <a:xfrm>
            <a:off x="3867150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6-033-text"/>
          <p:cNvSpPr txBox="1"/>
          <p:nvPr/>
        </p:nvSpPr>
        <p:spPr>
          <a:xfrm>
            <a:off x="3886200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u₈</a:t>
            </a:r>
          </a:p>
        </p:txBody>
      </p:sp>
      <p:sp>
        <p:nvSpPr>
          <p:cNvPr id="35" name="06-034-rect"/>
          <p:cNvSpPr/>
          <p:nvPr/>
        </p:nvSpPr>
        <p:spPr>
          <a:xfrm>
            <a:off x="4276725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06-035-text"/>
          <p:cNvSpPr txBox="1"/>
          <p:nvPr/>
        </p:nvSpPr>
        <p:spPr>
          <a:xfrm>
            <a:off x="4295775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u₉</a:t>
            </a:r>
          </a:p>
        </p:txBody>
      </p:sp>
      <p:sp>
        <p:nvSpPr>
          <p:cNvPr id="37" name="06-036-rect"/>
          <p:cNvSpPr/>
          <p:nvPr/>
        </p:nvSpPr>
        <p:spPr>
          <a:xfrm>
            <a:off x="4686300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6-037-text"/>
          <p:cNvSpPr txBox="1"/>
          <p:nvPr/>
        </p:nvSpPr>
        <p:spPr>
          <a:xfrm>
            <a:off x="4705350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u₁₀</a:t>
            </a:r>
          </a:p>
        </p:txBody>
      </p:sp>
      <p:sp>
        <p:nvSpPr>
          <p:cNvPr id="39" name="06-038-rect"/>
          <p:cNvSpPr/>
          <p:nvPr/>
        </p:nvSpPr>
        <p:spPr>
          <a:xfrm>
            <a:off x="5095875" y="2933700"/>
            <a:ext cx="381000" cy="409575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6-039-text"/>
          <p:cNvSpPr txBox="1"/>
          <p:nvPr/>
        </p:nvSpPr>
        <p:spPr>
          <a:xfrm>
            <a:off x="5114925" y="3017520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C8531C"/>
                </a:solidFill>
                <a:latin typeface="DejaVu Sans"/>
              </a:defRPr>
            </a:pPr>
            <a:r>
              <a:t>u₆</a:t>
            </a:r>
          </a:p>
        </p:txBody>
      </p:sp>
      <p:sp>
        <p:nvSpPr>
          <p:cNvPr id="41" name="06-040-text"/>
          <p:cNvSpPr txBox="1"/>
          <p:nvPr/>
        </p:nvSpPr>
        <p:spPr>
          <a:xfrm>
            <a:off x="552450" y="3590925"/>
            <a:ext cx="11620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8531C"/>
                </a:solidFill>
                <a:latin typeface="DejaVu Sans"/>
              </a:defRPr>
            </a:pPr>
            <a:r>
              <a:t>GPU 1</a:t>
            </a:r>
          </a:p>
        </p:txBody>
      </p:sp>
      <p:sp>
        <p:nvSpPr>
          <p:cNvPr id="42" name="06-041-rect"/>
          <p:cNvSpPr/>
          <p:nvPr/>
        </p:nvSpPr>
        <p:spPr>
          <a:xfrm>
            <a:off x="1819275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06-042-text"/>
          <p:cNvSpPr txBox="1"/>
          <p:nvPr/>
        </p:nvSpPr>
        <p:spPr>
          <a:xfrm>
            <a:off x="1838325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u₃</a:t>
            </a:r>
          </a:p>
        </p:txBody>
      </p:sp>
      <p:sp>
        <p:nvSpPr>
          <p:cNvPr id="44" name="06-043-rect"/>
          <p:cNvSpPr/>
          <p:nvPr/>
        </p:nvSpPr>
        <p:spPr>
          <a:xfrm>
            <a:off x="2228850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6-044-text"/>
          <p:cNvSpPr txBox="1"/>
          <p:nvPr/>
        </p:nvSpPr>
        <p:spPr>
          <a:xfrm>
            <a:off x="2247900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u₆</a:t>
            </a:r>
          </a:p>
        </p:txBody>
      </p:sp>
      <p:sp>
        <p:nvSpPr>
          <p:cNvPr id="46" name="06-045-rect"/>
          <p:cNvSpPr/>
          <p:nvPr/>
        </p:nvSpPr>
        <p:spPr>
          <a:xfrm>
            <a:off x="2638425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06-046-text"/>
          <p:cNvSpPr txBox="1"/>
          <p:nvPr/>
        </p:nvSpPr>
        <p:spPr>
          <a:xfrm>
            <a:off x="2657475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u₇</a:t>
            </a:r>
          </a:p>
        </p:txBody>
      </p:sp>
      <p:sp>
        <p:nvSpPr>
          <p:cNvPr id="48" name="06-047-rect"/>
          <p:cNvSpPr/>
          <p:nvPr/>
        </p:nvSpPr>
        <p:spPr>
          <a:xfrm>
            <a:off x="3048000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C8531C"/>
          </a:solidFill>
          <a:ln w="9525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06-048-text"/>
          <p:cNvSpPr txBox="1"/>
          <p:nvPr/>
        </p:nvSpPr>
        <p:spPr>
          <a:xfrm>
            <a:off x="3067050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DejaVu Sans"/>
              </a:defRPr>
            </a:pPr>
            <a:r>
              <a:t>u₁₁</a:t>
            </a:r>
          </a:p>
        </p:txBody>
      </p:sp>
      <p:sp>
        <p:nvSpPr>
          <p:cNvPr id="50" name="06-049-rect"/>
          <p:cNvSpPr/>
          <p:nvPr/>
        </p:nvSpPr>
        <p:spPr>
          <a:xfrm>
            <a:off x="3457575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06-050-text"/>
          <p:cNvSpPr txBox="1"/>
          <p:nvPr/>
        </p:nvSpPr>
        <p:spPr>
          <a:xfrm>
            <a:off x="3476625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63C9"/>
                </a:solidFill>
                <a:latin typeface="DejaVu Sans"/>
              </a:defRPr>
            </a:pPr>
            <a:r>
              <a:t>u₂</a:t>
            </a:r>
          </a:p>
        </p:txBody>
      </p:sp>
      <p:sp>
        <p:nvSpPr>
          <p:cNvPr id="52" name="06-051-rect"/>
          <p:cNvSpPr/>
          <p:nvPr/>
        </p:nvSpPr>
        <p:spPr>
          <a:xfrm>
            <a:off x="3867150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06-052-text"/>
          <p:cNvSpPr txBox="1"/>
          <p:nvPr/>
        </p:nvSpPr>
        <p:spPr>
          <a:xfrm>
            <a:off x="3886200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463C9"/>
                </a:solidFill>
                <a:latin typeface="DejaVu Sans"/>
              </a:defRPr>
            </a:pPr>
            <a:r>
              <a:t>u₁₀</a:t>
            </a:r>
          </a:p>
        </p:txBody>
      </p:sp>
      <p:sp>
        <p:nvSpPr>
          <p:cNvPr id="54" name="06-053-rect"/>
          <p:cNvSpPr/>
          <p:nvPr/>
        </p:nvSpPr>
        <p:spPr>
          <a:xfrm>
            <a:off x="4276725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06-054-text"/>
          <p:cNvSpPr txBox="1"/>
          <p:nvPr/>
        </p:nvSpPr>
        <p:spPr>
          <a:xfrm>
            <a:off x="4295775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546477"/>
                </a:solidFill>
                <a:latin typeface="DejaVu Sans"/>
              </a:defRPr>
            </a:pPr>
            <a:r>
              <a:t>·</a:t>
            </a:r>
          </a:p>
        </p:txBody>
      </p:sp>
      <p:sp>
        <p:nvSpPr>
          <p:cNvPr id="56" name="06-055-rect"/>
          <p:cNvSpPr/>
          <p:nvPr/>
        </p:nvSpPr>
        <p:spPr>
          <a:xfrm>
            <a:off x="4686300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6-056-text"/>
          <p:cNvSpPr txBox="1"/>
          <p:nvPr/>
        </p:nvSpPr>
        <p:spPr>
          <a:xfrm>
            <a:off x="4705350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546477"/>
                </a:solidFill>
                <a:latin typeface="DejaVu Sans"/>
              </a:defRPr>
            </a:pPr>
            <a:r>
              <a:t>·</a:t>
            </a:r>
          </a:p>
        </p:txBody>
      </p:sp>
      <p:sp>
        <p:nvSpPr>
          <p:cNvPr id="58" name="06-057-rect"/>
          <p:cNvSpPr/>
          <p:nvPr/>
        </p:nvSpPr>
        <p:spPr>
          <a:xfrm>
            <a:off x="5095875" y="3514725"/>
            <a:ext cx="381000" cy="409575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06-058-text"/>
          <p:cNvSpPr txBox="1"/>
          <p:nvPr/>
        </p:nvSpPr>
        <p:spPr>
          <a:xfrm>
            <a:off x="5114925" y="3598545"/>
            <a:ext cx="3429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546477"/>
                </a:solidFill>
                <a:latin typeface="DejaVu Sans"/>
              </a:defRPr>
            </a:pPr>
            <a:r>
              <a:t>·</a:t>
            </a:r>
          </a:p>
        </p:txBody>
      </p:sp>
      <p:sp>
        <p:nvSpPr>
          <p:cNvPr id="60" name="06-059-text"/>
          <p:cNvSpPr txBox="1"/>
          <p:nvPr/>
        </p:nvSpPr>
        <p:spPr>
          <a:xfrm>
            <a:off x="1809750" y="4095750"/>
            <a:ext cx="38481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477"/>
                </a:solidFill>
                <a:latin typeface="DejaVu Sans"/>
              </a:defRPr>
            </a:pPr>
            <a:r>
              <a:t>filled = owned   |   outline = ghost   |   · = padding</a:t>
            </a:r>
          </a:p>
        </p:txBody>
      </p:sp>
      <p:sp>
        <p:nvSpPr>
          <p:cNvPr id="61" name="06-060-rect"/>
          <p:cNvSpPr/>
          <p:nvPr/>
        </p:nvSpPr>
        <p:spPr>
          <a:xfrm>
            <a:off x="6153150" y="2667000"/>
            <a:ext cx="5505450" cy="1619250"/>
          </a:xfrm>
          <a:prstGeom prst="roundRect">
            <a:avLst>
              <a:gd name="adj" fmla="val 5882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06-061-text"/>
          <p:cNvSpPr txBox="1"/>
          <p:nvPr/>
        </p:nvSpPr>
        <p:spPr>
          <a:xfrm>
            <a:off x="6353175" y="2819400"/>
            <a:ext cx="51054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Explicit packets preserve the ghost map</a:t>
            </a:r>
          </a:p>
        </p:txBody>
      </p:sp>
      <p:sp>
        <p:nvSpPr>
          <p:cNvPr id="63" name="06-062-text"/>
          <p:cNvSpPr txBox="1"/>
          <p:nvPr/>
        </p:nvSpPr>
        <p:spPr>
          <a:xfrm>
            <a:off x="6381750" y="3200400"/>
            <a:ext cx="50292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2463C9"/>
                </a:solidFill>
                <a:latin typeface="DejaVu Sans"/>
              </a:defRPr>
            </a:pPr>
            <a:r>
              <a:t>GPU 0 sends [u₂, u₁₀] → GPU 1 ghost slots</a:t>
            </a:r>
          </a:p>
        </p:txBody>
      </p:sp>
      <p:sp>
        <p:nvSpPr>
          <p:cNvPr id="64" name="06-063-text"/>
          <p:cNvSpPr txBox="1"/>
          <p:nvPr/>
        </p:nvSpPr>
        <p:spPr>
          <a:xfrm>
            <a:off x="6381750" y="3571875"/>
            <a:ext cx="50292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C8531C"/>
                </a:solidFill>
                <a:latin typeface="DejaVu Sans"/>
              </a:defRPr>
            </a:pPr>
            <a:r>
              <a:t>GPU 1 sends [u₆, 0*] → GPU 0 ghost slot</a:t>
            </a:r>
          </a:p>
        </p:txBody>
      </p:sp>
      <p:sp>
        <p:nvSpPr>
          <p:cNvPr id="65" name="06-064-text"/>
          <p:cNvSpPr txBox="1"/>
          <p:nvPr/>
        </p:nvSpPr>
        <p:spPr>
          <a:xfrm>
            <a:off x="6381750" y="3924300"/>
            <a:ext cx="502920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* Fixed-width packet padding is masked / discarded.</a:t>
            </a:r>
          </a:p>
        </p:txBody>
      </p:sp>
      <p:sp>
        <p:nvSpPr>
          <p:cNvPr id="66" name="06-065-text"/>
          <p:cNvSpPr txBox="1"/>
          <p:nvPr/>
        </p:nvSpPr>
        <p:spPr>
          <a:xfrm>
            <a:off x="542925" y="4514850"/>
            <a:ext cx="1095375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46477"/>
                </a:solidFill>
                <a:latin typeface="DejaVu Sans"/>
              </a:defRPr>
            </a:pPr>
            <a:r>
              <a:t>EACH JIT-COMPILED CALL   /   shard_map runs the same body on every device</a:t>
            </a:r>
          </a:p>
        </p:txBody>
      </p:sp>
      <p:sp>
        <p:nvSpPr>
          <p:cNvPr id="67" name="06-066-rect"/>
          <p:cNvSpPr/>
          <p:nvPr/>
        </p:nvSpPr>
        <p:spPr>
          <a:xfrm>
            <a:off x="533400" y="4895850"/>
            <a:ext cx="2190750" cy="590550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06-067-text"/>
          <p:cNvSpPr txBox="1"/>
          <p:nvPr/>
        </p:nvSpPr>
        <p:spPr>
          <a:xfrm>
            <a:off x="647700" y="5057775"/>
            <a:ext cx="19621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Pack by indices</a:t>
            </a:r>
          </a:p>
        </p:txBody>
      </p:sp>
      <p:sp>
        <p:nvSpPr>
          <p:cNvPr id="69" name="06-068-rect"/>
          <p:cNvSpPr/>
          <p:nvPr/>
        </p:nvSpPr>
        <p:spPr>
          <a:xfrm>
            <a:off x="3048000" y="4895850"/>
            <a:ext cx="2990850" cy="590550"/>
          </a:xfrm>
          <a:prstGeom prst="roundRect">
            <a:avLst>
              <a:gd name="adj" fmla="val 12903"/>
            </a:avLst>
          </a:prstGeom>
          <a:solidFill>
            <a:srgbClr val="EDF8F5"/>
          </a:solidFill>
          <a:ln w="14287">
            <a:solidFill>
              <a:srgbClr val="08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06-069-text"/>
          <p:cNvSpPr txBox="1"/>
          <p:nvPr/>
        </p:nvSpPr>
        <p:spPr>
          <a:xfrm>
            <a:off x="3162300" y="5057775"/>
            <a:ext cx="27622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7D70"/>
                </a:solidFill>
                <a:latin typeface="DejaVu Sans Mono"/>
              </a:defRPr>
            </a:pPr>
            <a:r>
              <a:t>lax.all_to_all</a:t>
            </a:r>
          </a:p>
        </p:txBody>
      </p:sp>
      <p:sp>
        <p:nvSpPr>
          <p:cNvPr id="71" name="06-070-rect"/>
          <p:cNvSpPr/>
          <p:nvPr/>
        </p:nvSpPr>
        <p:spPr>
          <a:xfrm>
            <a:off x="6362700" y="4895850"/>
            <a:ext cx="2514600" cy="590550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06-071-text"/>
          <p:cNvSpPr txBox="1"/>
          <p:nvPr/>
        </p:nvSpPr>
        <p:spPr>
          <a:xfrm>
            <a:off x="6477000" y="5057775"/>
            <a:ext cx="2286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Scatter to ghosts</a:t>
            </a:r>
          </a:p>
        </p:txBody>
      </p:sp>
      <p:sp>
        <p:nvSpPr>
          <p:cNvPr id="73" name="06-072-rect"/>
          <p:cNvSpPr/>
          <p:nvPr/>
        </p:nvSpPr>
        <p:spPr>
          <a:xfrm>
            <a:off x="9201150" y="4895850"/>
            <a:ext cx="2457450" cy="590550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4287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06-073-text"/>
          <p:cNvSpPr txBox="1"/>
          <p:nvPr/>
        </p:nvSpPr>
        <p:spPr>
          <a:xfrm>
            <a:off x="9315450" y="5057775"/>
            <a:ext cx="222885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2638"/>
                </a:solidFill>
                <a:latin typeface="DejaVu Sans"/>
              </a:defRPr>
            </a:pPr>
            <a:r>
              <a:t>Local CSR matvec</a:t>
            </a:r>
          </a:p>
        </p:txBody>
      </p:sp>
      <p:sp>
        <p:nvSpPr>
          <p:cNvPr id="75" name="06-074-line"/>
          <p:cNvSpPr/>
          <p:nvPr/>
        </p:nvSpPr>
        <p:spPr>
          <a:xfrm>
            <a:off x="2781300" y="5191125"/>
            <a:ext cx="200025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9050">
            <a:solidFill>
              <a:srgbClr val="08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06-075-poly"/>
          <p:cNvSpPr/>
          <p:nvPr/>
        </p:nvSpPr>
        <p:spPr>
          <a:xfrm>
            <a:off x="2886075" y="514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06-076-line"/>
          <p:cNvSpPr/>
          <p:nvPr/>
        </p:nvSpPr>
        <p:spPr>
          <a:xfrm>
            <a:off x="6096000" y="5191125"/>
            <a:ext cx="200025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9050">
            <a:solidFill>
              <a:srgbClr val="08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06-077-poly"/>
          <p:cNvSpPr/>
          <p:nvPr/>
        </p:nvSpPr>
        <p:spPr>
          <a:xfrm>
            <a:off x="6200775" y="514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06-078-line"/>
          <p:cNvSpPr/>
          <p:nvPr/>
        </p:nvSpPr>
        <p:spPr>
          <a:xfrm>
            <a:off x="8934450" y="5191125"/>
            <a:ext cx="200025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9050">
            <a:solidFill>
              <a:srgbClr val="08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06-079-poly"/>
          <p:cNvSpPr/>
          <p:nvPr/>
        </p:nvSpPr>
        <p:spPr>
          <a:xfrm>
            <a:off x="9039225" y="514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06-080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06-081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06-082-text"/>
          <p:cNvSpPr txBox="1"/>
          <p:nvPr/>
        </p:nvSpPr>
        <p:spPr>
          <a:xfrm>
            <a:off x="723900" y="58007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Sharding places the arrays. Our plan defines which owner values fill which ghosts.</a:t>
            </a:r>
          </a:p>
        </p:txBody>
      </p:sp>
      <p:sp>
        <p:nvSpPr>
          <p:cNvPr id="84" name="06-083-text"/>
          <p:cNvSpPr txBox="1"/>
          <p:nvPr/>
        </p:nvSpPr>
        <p:spPr>
          <a:xfrm>
            <a:off x="723900" y="6067425"/>
            <a:ext cx="106680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477"/>
                </a:solidFill>
                <a:latin typeface="DejaVu Sans"/>
              </a:defRPr>
            </a:pPr>
            <a:r>
              <a:t>Current scope: forward INSERT + scalar CSR matvec. Tradeoff: padding and a global all-to-all collective.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7-001-text"/>
          <p:cNvSpPr txBox="1"/>
          <p:nvPr/>
        </p:nvSpPr>
        <p:spPr>
          <a:xfrm>
            <a:off x="533400" y="247650"/>
            <a:ext cx="809625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46477"/>
                </a:solidFill>
                <a:latin typeface="DejaVu Sans"/>
              </a:defRPr>
            </a:pPr>
            <a:r>
              <a:t>JAX-GHOST   /   WHAT TO TRY NEXT</a:t>
            </a:r>
          </a:p>
        </p:txBody>
      </p:sp>
      <p:sp>
        <p:nvSpPr>
          <p:cNvPr id="3" name="07-002-rect"/>
          <p:cNvSpPr/>
          <p:nvPr/>
        </p:nvSpPr>
        <p:spPr>
          <a:xfrm>
            <a:off x="11172825" y="247650"/>
            <a:ext cx="485775" cy="47625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7-003-text"/>
          <p:cNvSpPr txBox="1"/>
          <p:nvPr/>
        </p:nvSpPr>
        <p:spPr>
          <a:xfrm>
            <a:off x="533400" y="600075"/>
            <a:ext cx="11144250" cy="471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625" b="1">
                <a:solidFill>
                  <a:srgbClr val="172638"/>
                </a:solidFill>
                <a:latin typeface="DejaVu Sans"/>
              </a:defRPr>
            </a:pPr>
            <a:r>
              <a:t>Newer JAX APIs: optimization opportunities</a:t>
            </a:r>
          </a:p>
        </p:txBody>
      </p:sp>
      <p:sp>
        <p:nvSpPr>
          <p:cNvPr id="5" name="07-004-text"/>
          <p:cNvSpPr txBox="1"/>
          <p:nvPr/>
        </p:nvSpPr>
        <p:spPr>
          <a:xfrm>
            <a:off x="533400" y="1143000"/>
            <a:ext cx="1114425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6477"/>
                </a:solidFill>
                <a:latin typeface="DejaVu Sans"/>
              </a:defRPr>
            </a:pPr>
            <a:r>
              <a:t>Candidates for our sharded implementation • preserve the ownership map • benchmark on the target GPUs</a:t>
            </a:r>
          </a:p>
        </p:txBody>
      </p:sp>
      <p:sp>
        <p:nvSpPr>
          <p:cNvPr id="6" name="07-005-line"/>
          <p:cNvSpPr/>
          <p:nvPr/>
        </p:nvSpPr>
        <p:spPr>
          <a:xfrm>
            <a:off x="533400" y="6419850"/>
            <a:ext cx="11125200" cy="0"/>
          </a:xfrm>
          <a:custGeom>
            <a:avLst/>
            <a:gdLst/>
            <a:ahLst/>
            <a:cxnLst/>
            <a:rect l="l" t="t" r="r" b="b"/>
            <a:pathLst>
              <a:path w="1168" h="0">
                <a:moveTo>
                  <a:pt x="0" y="0"/>
                </a:moveTo>
                <a:lnTo>
                  <a:pt x="1168" y="0"/>
                </a:lnTo>
              </a:path>
            </a:pathLst>
          </a:custGeom>
          <a:noFill/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7-006-text"/>
          <p:cNvSpPr txBox="1"/>
          <p:nvPr/>
        </p:nvSpPr>
        <p:spPr>
          <a:xfrm>
            <a:off x="533400" y="6553200"/>
            <a:ext cx="6858000" cy="18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46477"/>
                </a:solidFill>
                <a:latin typeface="DejaVu Sans"/>
              </a:defRPr>
            </a:pPr>
            <a:r>
              <a:t>FEniCSx → MPI ownership → JAX GPU communication</a:t>
            </a:r>
          </a:p>
        </p:txBody>
      </p:sp>
      <p:sp>
        <p:nvSpPr>
          <p:cNvPr id="8" name="07-007-rect"/>
          <p:cNvSpPr/>
          <p:nvPr/>
        </p:nvSpPr>
        <p:spPr>
          <a:xfrm>
            <a:off x="98107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7-008-rect"/>
          <p:cNvSpPr/>
          <p:nvPr/>
        </p:nvSpPr>
        <p:spPr>
          <a:xfrm>
            <a:off x="99917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7-009-rect"/>
          <p:cNvSpPr/>
          <p:nvPr/>
        </p:nvSpPr>
        <p:spPr>
          <a:xfrm>
            <a:off x="101727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7-010-rect"/>
          <p:cNvSpPr/>
          <p:nvPr/>
        </p:nvSpPr>
        <p:spPr>
          <a:xfrm>
            <a:off x="1035367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7-011-rect"/>
          <p:cNvSpPr/>
          <p:nvPr/>
        </p:nvSpPr>
        <p:spPr>
          <a:xfrm>
            <a:off x="1053465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7-012-rect"/>
          <p:cNvSpPr/>
          <p:nvPr/>
        </p:nvSpPr>
        <p:spPr>
          <a:xfrm>
            <a:off x="10715625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7-013-rect"/>
          <p:cNvSpPr/>
          <p:nvPr/>
        </p:nvSpPr>
        <p:spPr>
          <a:xfrm>
            <a:off x="10896600" y="6610350"/>
            <a:ext cx="114300" cy="3810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7-014-rect"/>
          <p:cNvSpPr/>
          <p:nvPr/>
        </p:nvSpPr>
        <p:spPr>
          <a:xfrm>
            <a:off x="11077575" y="6610350"/>
            <a:ext cx="114300" cy="38100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7-015-text"/>
          <p:cNvSpPr txBox="1"/>
          <p:nvPr/>
        </p:nvSpPr>
        <p:spPr>
          <a:xfrm>
            <a:off x="11430000" y="6505575"/>
            <a:ext cx="228600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2638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17" name="07-016-rect"/>
          <p:cNvSpPr/>
          <p:nvPr/>
        </p:nvSpPr>
        <p:spPr>
          <a:xfrm>
            <a:off x="533400" y="1724025"/>
            <a:ext cx="3495675" cy="3295650"/>
          </a:xfrm>
          <a:prstGeom prst="roundRect">
            <a:avLst>
              <a:gd name="adj" fmla="val 2890"/>
            </a:avLst>
          </a:prstGeom>
          <a:solidFill>
            <a:srgbClr val="EFF5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7-017-text"/>
          <p:cNvSpPr txBox="1"/>
          <p:nvPr/>
        </p:nvSpPr>
        <p:spPr>
          <a:xfrm>
            <a:off x="723900" y="1905000"/>
            <a:ext cx="3114675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2463C9"/>
                </a:solidFill>
                <a:latin typeface="DejaVu Sans"/>
              </a:defRPr>
            </a:pPr>
            <a:r>
              <a:t>Less packet padding</a:t>
            </a:r>
          </a:p>
        </p:txBody>
      </p:sp>
      <p:sp>
        <p:nvSpPr>
          <p:cNvPr id="19" name="07-018-rect"/>
          <p:cNvSpPr/>
          <p:nvPr/>
        </p:nvSpPr>
        <p:spPr>
          <a:xfrm>
            <a:off x="4343400" y="1724025"/>
            <a:ext cx="3495675" cy="3295650"/>
          </a:xfrm>
          <a:prstGeom prst="roundRect">
            <a:avLst>
              <a:gd name="adj" fmla="val 2890"/>
            </a:avLst>
          </a:prstGeom>
          <a:solidFill>
            <a:srgbClr val="EDF8F5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7-019-text"/>
          <p:cNvSpPr txBox="1"/>
          <p:nvPr/>
        </p:nvSpPr>
        <p:spPr>
          <a:xfrm>
            <a:off x="4533900" y="1905000"/>
            <a:ext cx="3114675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087D70"/>
                </a:solidFill>
                <a:latin typeface="DejaVu Sans"/>
              </a:defRPr>
            </a:pPr>
            <a:r>
              <a:t>Reuse device storage</a:t>
            </a:r>
          </a:p>
        </p:txBody>
      </p:sp>
      <p:sp>
        <p:nvSpPr>
          <p:cNvPr id="21" name="07-020-rect"/>
          <p:cNvSpPr/>
          <p:nvPr/>
        </p:nvSpPr>
        <p:spPr>
          <a:xfrm>
            <a:off x="8162925" y="1724025"/>
            <a:ext cx="3495675" cy="3295650"/>
          </a:xfrm>
          <a:prstGeom prst="roundRect">
            <a:avLst>
              <a:gd name="adj" fmla="val 2890"/>
            </a:avLst>
          </a:prstGeom>
          <a:solidFill>
            <a:srgbClr val="FFF3EB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7-021-text"/>
          <p:cNvSpPr txBox="1"/>
          <p:nvPr/>
        </p:nvSpPr>
        <p:spPr>
          <a:xfrm>
            <a:off x="8353425" y="1905000"/>
            <a:ext cx="3114675" cy="3228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8531C"/>
                </a:solidFill>
                <a:latin typeface="DejaVu Sans"/>
              </a:defRPr>
            </a:pPr>
            <a:r>
              <a:t>Overlap useful work</a:t>
            </a:r>
          </a:p>
        </p:txBody>
      </p:sp>
      <p:sp>
        <p:nvSpPr>
          <p:cNvPr id="23" name="07-022-text"/>
          <p:cNvSpPr txBox="1"/>
          <p:nvPr/>
        </p:nvSpPr>
        <p:spPr>
          <a:xfrm>
            <a:off x="723900" y="2371725"/>
            <a:ext cx="3114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463C9"/>
                </a:solidFill>
                <a:latin typeface="DejaVu Sans Mono"/>
              </a:defRPr>
            </a:pPr>
            <a:r>
              <a:t>lax.ragged_all_to_all</a:t>
            </a:r>
          </a:p>
        </p:txBody>
      </p:sp>
      <p:sp>
        <p:nvSpPr>
          <p:cNvPr id="24" name="07-023-text"/>
          <p:cNvSpPr txBox="1"/>
          <p:nvPr/>
        </p:nvSpPr>
        <p:spPr>
          <a:xfrm>
            <a:off x="723900" y="2800350"/>
            <a:ext cx="3114675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Fixed peer packets</a:t>
            </a:r>
          </a:p>
        </p:txBody>
      </p:sp>
      <p:sp>
        <p:nvSpPr>
          <p:cNvPr id="25" name="07-024-rect"/>
          <p:cNvSpPr/>
          <p:nvPr/>
        </p:nvSpPr>
        <p:spPr>
          <a:xfrm>
            <a:off x="723900" y="3057525"/>
            <a:ext cx="266700" cy="209550"/>
          </a:xfrm>
          <a:prstGeom prst="rect">
            <a:avLst/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07-025-rect"/>
          <p:cNvSpPr/>
          <p:nvPr/>
        </p:nvSpPr>
        <p:spPr>
          <a:xfrm>
            <a:off x="1047750" y="3057525"/>
            <a:ext cx="2667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7-026-rect"/>
          <p:cNvSpPr/>
          <p:nvPr/>
        </p:nvSpPr>
        <p:spPr>
          <a:xfrm>
            <a:off x="1371600" y="3057525"/>
            <a:ext cx="2667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07-027-rect"/>
          <p:cNvSpPr/>
          <p:nvPr/>
        </p:nvSpPr>
        <p:spPr>
          <a:xfrm>
            <a:off x="1695450" y="3057525"/>
            <a:ext cx="2667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07-028-rect"/>
          <p:cNvSpPr/>
          <p:nvPr/>
        </p:nvSpPr>
        <p:spPr>
          <a:xfrm>
            <a:off x="2019300" y="3057525"/>
            <a:ext cx="266700" cy="209550"/>
          </a:xfrm>
          <a:prstGeom prst="rect">
            <a:avLst/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07-029-rect"/>
          <p:cNvSpPr/>
          <p:nvPr/>
        </p:nvSpPr>
        <p:spPr>
          <a:xfrm>
            <a:off x="2343150" y="3057525"/>
            <a:ext cx="266700" cy="209550"/>
          </a:xfrm>
          <a:prstGeom prst="rect">
            <a:avLst/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07-030-rect"/>
          <p:cNvSpPr/>
          <p:nvPr/>
        </p:nvSpPr>
        <p:spPr>
          <a:xfrm>
            <a:off x="2667000" y="3057525"/>
            <a:ext cx="2667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07-031-rect"/>
          <p:cNvSpPr/>
          <p:nvPr/>
        </p:nvSpPr>
        <p:spPr>
          <a:xfrm>
            <a:off x="2990850" y="3057525"/>
            <a:ext cx="2667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07-032-line"/>
          <p:cNvSpPr/>
          <p:nvPr/>
        </p:nvSpPr>
        <p:spPr>
          <a:xfrm>
            <a:off x="3476625" y="3143250"/>
            <a:ext cx="0" cy="428625"/>
          </a:xfrm>
          <a:custGeom>
            <a:avLst/>
            <a:gdLst/>
            <a:ahLst/>
            <a:cxnLst/>
            <a:rect l="l" t="t" r="r" b="b"/>
            <a:pathLst>
              <a:path w="0" h="45">
                <a:moveTo>
                  <a:pt x="0" y="0"/>
                </a:moveTo>
                <a:lnTo>
                  <a:pt x="0" y="45"/>
                </a:lnTo>
              </a:path>
            </a:pathLst>
          </a:custGeom>
          <a:noFill/>
          <a:ln w="19050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7-033-poly"/>
          <p:cNvSpPr/>
          <p:nvPr/>
        </p:nvSpPr>
        <p:spPr>
          <a:xfrm>
            <a:off x="3438525" y="3495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7-034-text"/>
          <p:cNvSpPr txBox="1"/>
          <p:nvPr/>
        </p:nvSpPr>
        <p:spPr>
          <a:xfrm>
            <a:off x="723900" y="3438525"/>
            <a:ext cx="2667000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Packed values + counts / offsets</a:t>
            </a:r>
          </a:p>
        </p:txBody>
      </p:sp>
      <p:sp>
        <p:nvSpPr>
          <p:cNvPr id="36" name="07-035-rect"/>
          <p:cNvSpPr/>
          <p:nvPr/>
        </p:nvSpPr>
        <p:spPr>
          <a:xfrm>
            <a:off x="723900" y="3705225"/>
            <a:ext cx="266700" cy="209550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7-036-rect"/>
          <p:cNvSpPr/>
          <p:nvPr/>
        </p:nvSpPr>
        <p:spPr>
          <a:xfrm>
            <a:off x="1047750" y="3705225"/>
            <a:ext cx="266700" cy="209550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7-037-rect"/>
          <p:cNvSpPr/>
          <p:nvPr/>
        </p:nvSpPr>
        <p:spPr>
          <a:xfrm>
            <a:off x="1371600" y="3705225"/>
            <a:ext cx="266700" cy="209550"/>
          </a:xfrm>
          <a:prstGeom prst="rect">
            <a:avLst/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7-038-text"/>
          <p:cNvSpPr txBox="1"/>
          <p:nvPr/>
        </p:nvSpPr>
        <p:spPr>
          <a:xfrm>
            <a:off x="723900" y="4191000"/>
            <a:ext cx="3114675" cy="7067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Send variable-length slices.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Keep fixed buffer capacities;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vector / CSR padding remains.</a:t>
            </a:r>
          </a:p>
        </p:txBody>
      </p:sp>
      <p:sp>
        <p:nvSpPr>
          <p:cNvPr id="40" name="07-039-text"/>
          <p:cNvSpPr txBox="1"/>
          <p:nvPr/>
        </p:nvSpPr>
        <p:spPr>
          <a:xfrm>
            <a:off x="4533900" y="2371725"/>
            <a:ext cx="3114675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7D70"/>
                </a:solidFill>
                <a:latin typeface="DejaVu Sans Mono"/>
              </a:defRPr>
            </a:pPr>
            <a:r>
              <a:t>donate_argnums / jax.new_ref</a:t>
            </a:r>
          </a:p>
        </p:txBody>
      </p:sp>
      <p:sp>
        <p:nvSpPr>
          <p:cNvPr id="41" name="07-040-rect"/>
          <p:cNvSpPr/>
          <p:nvPr/>
        </p:nvSpPr>
        <p:spPr>
          <a:xfrm>
            <a:off x="4676775" y="300990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07-041-text"/>
          <p:cNvSpPr txBox="1"/>
          <p:nvPr/>
        </p:nvSpPr>
        <p:spPr>
          <a:xfrm>
            <a:off x="4695825" y="3068954"/>
            <a:ext cx="5238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43" name="07-042-rect"/>
          <p:cNvSpPr/>
          <p:nvPr/>
        </p:nvSpPr>
        <p:spPr>
          <a:xfrm>
            <a:off x="5267325" y="300990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2463C9"/>
          </a:solidFill>
          <a:ln w="9525">
            <a:solidFill>
              <a:srgbClr val="246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07-043-text"/>
          <p:cNvSpPr txBox="1"/>
          <p:nvPr/>
        </p:nvSpPr>
        <p:spPr>
          <a:xfrm>
            <a:off x="5286375" y="3068954"/>
            <a:ext cx="5238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45" name="07-044-rect"/>
          <p:cNvSpPr/>
          <p:nvPr/>
        </p:nvSpPr>
        <p:spPr>
          <a:xfrm>
            <a:off x="5857875" y="3009900"/>
            <a:ext cx="561975" cy="409575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9050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07-045-text"/>
          <p:cNvSpPr txBox="1"/>
          <p:nvPr/>
        </p:nvSpPr>
        <p:spPr>
          <a:xfrm>
            <a:off x="5876925" y="3068954"/>
            <a:ext cx="523875" cy="310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8531C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47" name="07-046-text"/>
          <p:cNvSpPr txBox="1"/>
          <p:nvPr/>
        </p:nvSpPr>
        <p:spPr>
          <a:xfrm>
            <a:off x="6553200" y="3095625"/>
            <a:ext cx="1066800" cy="2609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C8531C"/>
                </a:solidFill>
                <a:latin typeface="DejaVu Sans"/>
              </a:defRPr>
            </a:pPr>
            <a:r>
              <a:t>← write</a:t>
            </a:r>
          </a:p>
        </p:txBody>
      </p:sp>
      <p:sp>
        <p:nvSpPr>
          <p:cNvPr id="48" name="07-047-text"/>
          <p:cNvSpPr txBox="1"/>
          <p:nvPr/>
        </p:nvSpPr>
        <p:spPr>
          <a:xfrm>
            <a:off x="4533900" y="3638550"/>
            <a:ext cx="3114675" cy="2486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46477"/>
                </a:solidFill>
                <a:latin typeface="DejaVu Sans"/>
              </a:defRPr>
            </a:pPr>
            <a:r>
              <a:t>Reuse buffers or write ghost slots.</a:t>
            </a:r>
          </a:p>
        </p:txBody>
      </p:sp>
      <p:sp>
        <p:nvSpPr>
          <p:cNvPr id="49" name="07-048-text"/>
          <p:cNvSpPr txBox="1"/>
          <p:nvPr/>
        </p:nvSpPr>
        <p:spPr>
          <a:xfrm>
            <a:off x="4533900" y="4191000"/>
            <a:ext cx="3114675" cy="7067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Donation consumes the input.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Refs enable explicit mutation.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Measure memory + dispatch cost.</a:t>
            </a:r>
          </a:p>
        </p:txBody>
      </p:sp>
      <p:sp>
        <p:nvSpPr>
          <p:cNvPr id="50" name="07-049-text"/>
          <p:cNvSpPr txBox="1"/>
          <p:nvPr/>
        </p:nvSpPr>
        <p:spPr>
          <a:xfrm>
            <a:off x="8353425" y="2371725"/>
            <a:ext cx="31146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531C"/>
                </a:solidFill>
                <a:latin typeface="DejaVu Sans Mono"/>
              </a:defRPr>
            </a:pPr>
            <a:r>
              <a:t>lax.psend / lax.precv</a:t>
            </a:r>
          </a:p>
        </p:txBody>
      </p:sp>
      <p:sp>
        <p:nvSpPr>
          <p:cNvPr id="51" name="07-050-text"/>
          <p:cNvSpPr txBox="1"/>
          <p:nvPr/>
        </p:nvSpPr>
        <p:spPr>
          <a:xfrm>
            <a:off x="8353425" y="2800350"/>
            <a:ext cx="3114675" cy="236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477"/>
                </a:solidFill>
                <a:latin typeface="DejaVu Sans"/>
              </a:defRPr>
            </a:pPr>
            <a:r>
              <a:t>Target schedule — verify in a trace</a:t>
            </a:r>
          </a:p>
        </p:txBody>
      </p:sp>
      <p:sp>
        <p:nvSpPr>
          <p:cNvPr id="52" name="07-051-rect"/>
          <p:cNvSpPr/>
          <p:nvPr/>
        </p:nvSpPr>
        <p:spPr>
          <a:xfrm>
            <a:off x="8353425" y="3114675"/>
            <a:ext cx="2238375" cy="266700"/>
          </a:xfrm>
          <a:prstGeom prst="roundRect">
            <a:avLst>
              <a:gd name="adj" fmla="val 14285"/>
            </a:avLst>
          </a:prstGeom>
          <a:solidFill>
            <a:srgbClr val="C85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07-052-text"/>
          <p:cNvSpPr txBox="1"/>
          <p:nvPr/>
        </p:nvSpPr>
        <p:spPr>
          <a:xfrm>
            <a:off x="8429625" y="3152775"/>
            <a:ext cx="20574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communicate ghost values</a:t>
            </a:r>
          </a:p>
        </p:txBody>
      </p:sp>
      <p:sp>
        <p:nvSpPr>
          <p:cNvPr id="54" name="07-053-rect"/>
          <p:cNvSpPr/>
          <p:nvPr/>
        </p:nvSpPr>
        <p:spPr>
          <a:xfrm>
            <a:off x="8353425" y="3524250"/>
            <a:ext cx="1828800" cy="266700"/>
          </a:xfrm>
          <a:prstGeom prst="roundRect">
            <a:avLst>
              <a:gd name="adj" fmla="val 14285"/>
            </a:avLst>
          </a:prstGeom>
          <a:solidFill>
            <a:srgbClr val="246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07-054-text"/>
          <p:cNvSpPr txBox="1"/>
          <p:nvPr/>
        </p:nvSpPr>
        <p:spPr>
          <a:xfrm>
            <a:off x="8420100" y="3562350"/>
            <a:ext cx="1685925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owned-column part</a:t>
            </a:r>
          </a:p>
        </p:txBody>
      </p:sp>
      <p:sp>
        <p:nvSpPr>
          <p:cNvPr id="56" name="07-055-rect"/>
          <p:cNvSpPr/>
          <p:nvPr/>
        </p:nvSpPr>
        <p:spPr>
          <a:xfrm>
            <a:off x="10658475" y="3524250"/>
            <a:ext cx="800100" cy="266700"/>
          </a:xfrm>
          <a:prstGeom prst="roundRect">
            <a:avLst>
              <a:gd name="adj" fmla="val 14285"/>
            </a:avLst>
          </a:prstGeom>
          <a:solidFill>
            <a:srgbClr val="C85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07-056-text"/>
          <p:cNvSpPr txBox="1"/>
          <p:nvPr/>
        </p:nvSpPr>
        <p:spPr>
          <a:xfrm>
            <a:off x="10696575" y="3562350"/>
            <a:ext cx="7239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ghosts</a:t>
            </a:r>
          </a:p>
        </p:txBody>
      </p:sp>
      <p:sp>
        <p:nvSpPr>
          <p:cNvPr id="58" name="07-057-line"/>
          <p:cNvSpPr/>
          <p:nvPr/>
        </p:nvSpPr>
        <p:spPr>
          <a:xfrm>
            <a:off x="10591800" y="3248025"/>
            <a:ext cx="133350" cy="238125"/>
          </a:xfrm>
          <a:custGeom>
            <a:avLst/>
            <a:gdLst/>
            <a:ahLst/>
            <a:cxnLst/>
            <a:rect l="l" t="t" r="r" b="b"/>
            <a:pathLst>
              <a:path w="14" h="25">
                <a:moveTo>
                  <a:pt x="0" y="0"/>
                </a:moveTo>
                <a:lnTo>
                  <a:pt x="14" y="25"/>
                </a:lnTo>
              </a:path>
            </a:pathLst>
          </a:custGeom>
          <a:noFill/>
          <a:ln w="14287">
            <a:solidFill>
              <a:srgbClr val="C85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07-058-poly"/>
          <p:cNvSpPr/>
          <p:nvPr/>
        </p:nvSpPr>
        <p:spPr>
          <a:xfrm>
            <a:off x="10677525" y="3419475"/>
            <a:ext cx="47625" cy="66675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5" y="7"/>
                </a:moveTo>
                <a:lnTo>
                  <a:pt x="5" y="0"/>
                </a:lnTo>
                <a:lnTo>
                  <a:pt x="0" y="3"/>
                </a:lnTo>
                <a:close/>
              </a:path>
            </a:pathLst>
          </a:custGeom>
          <a:solidFill>
            <a:srgbClr val="C85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07-059-text"/>
          <p:cNvSpPr txBox="1"/>
          <p:nvPr/>
        </p:nvSpPr>
        <p:spPr>
          <a:xfrm>
            <a:off x="8353425" y="4191000"/>
            <a:ext cx="3114675" cy="7067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Split owned / ghost-column work.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Test scheduling and GPU progress.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72638"/>
                </a:solidFill>
                <a:latin typeface="DejaVu Sans"/>
              </a:defRPr>
            </a:pPr>
            <a:r>
              <a:t>MPI-style overlap is not automatic.</a:t>
            </a:r>
          </a:p>
        </p:txBody>
      </p:sp>
      <p:sp>
        <p:nvSpPr>
          <p:cNvPr id="61" name="07-060-text"/>
          <p:cNvSpPr txBox="1"/>
          <p:nvPr/>
        </p:nvSpPr>
        <p:spPr>
          <a:xfrm>
            <a:off x="542925" y="5219700"/>
            <a:ext cx="11096625" cy="273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546477"/>
                </a:solidFill>
                <a:latin typeface="DejaVu Sans"/>
              </a:defRPr>
            </a:pPr>
            <a:r>
              <a:t>Also profile local CSR alternatives; consider Pallas fusion only for a measured kernel bottleneck.</a:t>
            </a:r>
          </a:p>
        </p:txBody>
      </p:sp>
      <p:sp>
        <p:nvSpPr>
          <p:cNvPr id="62" name="07-061-rect"/>
          <p:cNvSpPr/>
          <p:nvPr/>
        </p:nvSpPr>
        <p:spPr>
          <a:xfrm>
            <a:off x="533400" y="5753100"/>
            <a:ext cx="11125200" cy="542925"/>
          </a:xfrm>
          <a:prstGeom prst="roundRect">
            <a:avLst>
              <a:gd name="adj" fmla="val 14035"/>
            </a:avLst>
          </a:prstGeom>
          <a:solidFill>
            <a:srgbClr val="E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7-062-rect"/>
          <p:cNvSpPr/>
          <p:nvPr/>
        </p:nvSpPr>
        <p:spPr>
          <a:xfrm>
            <a:off x="533400" y="5753100"/>
            <a:ext cx="47625" cy="542925"/>
          </a:xfrm>
          <a:prstGeom prst="rect">
            <a:avLst/>
          </a:prstGeom>
          <a:solidFill>
            <a:srgbClr val="08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07-063-text"/>
          <p:cNvSpPr txBox="1"/>
          <p:nvPr/>
        </p:nvSpPr>
        <p:spPr>
          <a:xfrm>
            <a:off x="723900" y="5800725"/>
            <a:ext cx="10668000" cy="298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7D70"/>
                </a:solidFill>
                <a:latin typeface="DejaVu Sans"/>
              </a:defRPr>
            </a:pPr>
            <a:r>
              <a:t>First test storage reuse and ragged exchange; measure end-to-end matvec before choosing.</a:t>
            </a:r>
          </a:p>
        </p:txBody>
      </p:sp>
      <p:sp>
        <p:nvSpPr>
          <p:cNvPr id="65" name="07-064-text"/>
          <p:cNvSpPr txBox="1"/>
          <p:nvPr/>
        </p:nvSpPr>
        <p:spPr>
          <a:xfrm>
            <a:off x="723900" y="6067425"/>
            <a:ext cx="10668000" cy="2114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46477"/>
                </a:solidFill>
                <a:latin typeface="DejaVu Sans"/>
              </a:defRPr>
            </a:pPr>
            <a:r>
              <a:t>Optimization candidates, not measured speedups. Verify GPU execution, numerical results and required JAX transforms.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distributed FEM to JAX GPU ghost exchange</dc:title>
  <dc:subject>DOLFINx ownership, mpi4jax and explicit JAX sharded halos</dc:subject>
  <dc:creator>JAX-ghost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